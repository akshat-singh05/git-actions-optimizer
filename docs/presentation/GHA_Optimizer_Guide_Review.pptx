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3.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4.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5.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6.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09d1b5f7-61a4-8cc0-cfd3-221e08dfda86}">
          <p14:sldIdLst>
            <p14:sldId id="256"/>
          </p14:sldIdLst>
        </p14:section>
        <p14:section name="Summary" id="{67d3d3fb-ac2a-4b5f-a6d1-449c069f8aa1}">
          <p14:sldIdLst>
            <p14:sldId id="257"/>
          </p14:sldIdLst>
        </p14:section>
        <p14:section name="System" id="{fb2f88f7-ebe7-a927-9790-603eb1144629}">
          <p14:sldIdLst>
            <p14:sldId id="258"/>
          </p14:sldIdLst>
        </p14:section>
        <p14:section name="Method" id="{edf67f57-7d88-06d6-72da-941c02e5fd73}">
          <p14:sldIdLst>
            <p14:sldId id="259"/>
          </p14:sldIdLst>
        </p14:section>
        <p14:section name="Results" id="{ccb97090-c3d0-3db3-4d33-c1843f11b5de}">
          <p14:sldIdLst>
            <p14:sldId id="260"/>
            <p14:sldId id="261"/>
            <p14:sldId id="262"/>
            <p14:sldId id="263"/>
            <p14:sldId id="264"/>
            <p14:sldId id="265"/>
          </p14:sldIdLst>
        </p14:section>
        <p14:section name="Demo" id="{c60d36a9-f882-2d94-4e2f-215a006b7cb8}">
          <p14:sldIdLst>
            <p14:sldId id="266"/>
          </p14:sldIdLst>
        </p14:section>
        <p14:section name="Rigour" id="{7a54a61e-361a-9627-c5bc-9206df80f3a3}">
          <p14:sldIdLst>
            <p14:sldId id="267"/>
          </p14:sldIdLst>
        </p14:section>
        <p14:section name="Next steps" id="{9164423d-4322-d352-7136-f4f4606dfa34}">
          <p14:sldIdLst>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B2432"/>
                </a:solidFill>
                <a:latin typeface="+mn-lt"/>
              </a:defRPr>
            </a:pPr>
            <a:r>
              <a:rPr sz="1200" b="0" i="0" u="none" strike="noStrike">
                <a:solidFill>
                  <a:srgbClr val="1B2432"/>
                </a:solidFill>
                <a:latin typeface="+mn-lt"/>
              </a:rPr>
              <a:t>Runs ingested per repository</a:t>
            </a:r>
          </a:p>
        </c:rich>
      </c:tx>
      <c:layout/>
      <c:overlay val="0"/>
    </c:title>
    <c:autoTitleDeleted val="0"/>
    <c:plotArea>
      <c:layout/>
      <c:barChart>
        <c:barDir val="bar"/>
        <c:grouping val="clustered"/>
        <c:varyColors val="0"/>
        <c:ser>
          <c:idx val="0"/>
          <c:order val="0"/>
          <c:tx>
            <c:strRef>
              <c:f>Sheet1!$B$1</c:f>
              <c:strCache>
                <c:ptCount val="1"/>
                <c:pt idx="0">
                  <c:v>Runs</c:v>
                </c:pt>
              </c:strCache>
            </c:strRef>
          </c:tx>
          <c:spPr>
            <a:solidFill>
              <a:srgbClr val="0F766E"/>
            </a:solidFill>
            <a:effectLst/>
          </c:spPr>
          <c:invertIfNegative val="0"/>
          <c:dLbls>
            <c:numFmt formatCode="#,##0" sourceLinked="0"/>
            <c:txPr>
              <a:bodyPr/>
              <a:lstStyle/>
              <a:p>
                <a:pPr>
                  <a:defRPr b="0" i="0" strike="noStrike" sz="1100" u="none">
                    <a:solidFill>
                      <a:srgbClr val="1B2432"/>
                    </a:solidFill>
                    <a:latin typeface="+mn-lt"/>
                  </a:defRPr>
                </a:pPr>
              </a:p>
            </c:txPr>
            <c:showLegendKey val="0"/>
            <c:showVal val="1"/>
            <c:showCatName val="0"/>
            <c:showSerName val="0"/>
            <c:showPercent val="0"/>
            <c:showBubbleSize val="0"/>
            <c:showLeaderLines val="0"/>
          </c:dLbls>
          <c:cat>
            <c:multiLvlStrRef>
              <c:f>Sheet1!$A$2:$A$10</c:f>
              <c:multiLvlStrCache>
                <c:ptCount val="9"/>
                <c:lvl>
                  <c:pt idx="0">
                    <c:v>prometheus</c:v>
                  </c:pt>
                  <c:pt idx="1">
                    <c:v>fastapi</c:v>
                  </c:pt>
                  <c:pt idx="2">
                    <c:v>poetry</c:v>
                  </c:pt>
                  <c:pt idx="3">
                    <c:v>dubbo</c:v>
                  </c:pt>
                  <c:pt idx="4">
                    <c:v>cli/cli</c:v>
                  </c:pt>
                  <c:pt idx="5">
                    <c:v>pydantic</c:v>
                  </c:pt>
                  <c:pt idx="6">
                    <c:v>ruff</c:v>
                  </c:pt>
                  <c:pt idx="7">
                    <c:v>uv</c:v>
                  </c:pt>
                  <c:pt idx="8">
                    <c:v>quarkus</c:v>
                  </c:pt>
                </c:lvl>
              </c:multiLvlStrCache>
            </c:multiLvlStrRef>
          </c:cat>
          <c:val>
            <c:numRef>
              <c:f>Sheet1!$B$2:$B$10</c:f>
              <c:numCache>
                <c:formatCode>General</c:formatCode>
                <c:ptCount val="9"/>
                <c:pt idx="0">
                  <c:v>2163</c:v>
                </c:pt>
                <c:pt idx="1">
                  <c:v>682</c:v>
                </c:pt>
                <c:pt idx="2">
                  <c:v>596</c:v>
                </c:pt>
                <c:pt idx="3">
                  <c:v>293</c:v>
                </c:pt>
                <c:pt idx="4">
                  <c:v>293</c:v>
                </c:pt>
                <c:pt idx="5">
                  <c:v>196</c:v>
                </c:pt>
                <c:pt idx="6">
                  <c:v>183</c:v>
                </c:pt>
                <c:pt idx="7">
                  <c:v>148</c:v>
                </c:pt>
                <c:pt idx="8">
                  <c:v>24</c:v>
                </c:pt>
              </c:numCache>
            </c:numRef>
          </c:val>
        </c:ser>
        <c:dLbls>
          <c:numFmt formatCode="#,##0" sourceLinked="0"/>
          <c:txPr>
            <a:bodyPr/>
            <a:lstStyle/>
            <a:p>
              <a:pPr>
                <a:defRPr b="0" i="0" strike="noStrike" sz="1100" u="none">
                  <a:solidFill>
                    <a:srgbClr val="1B2432"/>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B2432"/>
                </a:solidFill>
                <a:latin typeface="+mn-lt"/>
              </a:defRPr>
            </a:pPr>
            <a:endParaRPr lang="en-US"/>
          </a:p>
        </c:txPr>
        <c:crossAx val="2094734552"/>
        <c:crosses val="autoZero"/>
        <c:auto val="1"/>
        <c:lblAlgn val="ctr"/>
        <c:noMultiLvlLbl val="1"/>
      </c:catAx>
      <c:valAx>
        <c:axId val="2094734552"/>
        <c:scaling>
          <c:orientation val="minMax"/>
        </c:scaling>
        <c:delete val="1"/>
        <c:axPos val="b"/>
        <c:majorGridlines>
          <c:spPr>
            <a:ln w="6350" cap="flat">
              <a:solidFill>
                <a:srgbClr val="D5DEDC"/>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64748B"/>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B2432"/>
                </a:solidFill>
                <a:latin typeface="+mn-lt"/>
              </a:defRPr>
            </a:pPr>
            <a:r>
              <a:rPr sz="1200" b="0" i="0" u="none" strike="noStrike">
                <a:solidFill>
                  <a:srgbClr val="1B2432"/>
                </a:solidFill>
                <a:latin typeface="+mn-lt"/>
              </a:rPr>
              <a:t>Failure PR-AUC (higher is better)</a:t>
            </a:r>
          </a:p>
        </c:rich>
      </c:tx>
      <c:layout/>
      <c:overlay val="0"/>
    </c:title>
    <c:autoTitleDeleted val="0"/>
    <c:plotArea>
      <c:layout/>
      <c:barChart>
        <c:barDir val="col"/>
        <c:grouping val="clustered"/>
        <c:varyColors val="0"/>
        <c:ser>
          <c:idx val="0"/>
          <c:order val="0"/>
          <c:tx>
            <c:strRef>
              <c:f>Sheet1!$B$1</c:f>
              <c:strCache>
                <c:ptCount val="1"/>
                <c:pt idx="0">
                  <c:v>Model (regularised logistic regression)</c:v>
                </c:pt>
              </c:strCache>
            </c:strRef>
          </c:tx>
          <c:spPr>
            <a:solidFill>
              <a:srgbClr val="0F766E"/>
            </a:solidFill>
            <a:effectLst/>
          </c:spPr>
          <c:invertIfNegative val="0"/>
          <c:dLbls>
            <c:numFmt formatCode="0.00" sourceLinked="0"/>
            <c:txPr>
              <a:bodyPr/>
              <a:lstStyle/>
              <a:p>
                <a:pPr>
                  <a:defRPr b="0" i="0" strike="noStrike" sz="1100" u="none">
                    <a:solidFill>
                      <a:srgbClr val="1B2432"/>
                    </a:solidFill>
                    <a:latin typeface="+mn-lt"/>
                  </a:defRPr>
                </a:pPr>
              </a:p>
            </c:txPr>
            <c:showLegendKey val="0"/>
            <c:showVal val="1"/>
            <c:showCatName val="0"/>
            <c:showSerName val="0"/>
            <c:showPercent val="0"/>
            <c:showBubbleSize val="0"/>
            <c:showLeaderLines val="0"/>
          </c:dLbls>
          <c:cat>
            <c:multiLvlStrRef>
              <c:f>Sheet1!$A$2:$A$5</c:f>
              <c:multiLvlStrCache>
                <c:ptCount val="4"/>
                <c:lvl>
                  <c:pt idx="0">
                    <c:v>poetry</c:v>
                  </c:pt>
                  <c:pt idx="1">
                    <c:v>fastapi</c:v>
                  </c:pt>
                  <c:pt idx="2">
                    <c:v>prometheus</c:v>
                  </c:pt>
                  <c:pt idx="3">
                    <c:v>dubbo</c:v>
                  </c:pt>
                </c:lvl>
              </c:multiLvlStrCache>
            </c:multiLvlStrRef>
          </c:cat>
          <c:val>
            <c:numRef>
              <c:f>Sheet1!$B$2:$B$5</c:f>
              <c:numCache>
                <c:formatCode>General</c:formatCode>
                <c:ptCount val="4"/>
                <c:pt idx="0">
                  <c:v>0.2047</c:v>
                </c:pt>
                <c:pt idx="1">
                  <c:v>0.4187</c:v>
                </c:pt>
                <c:pt idx="2">
                  <c:v>0.1732</c:v>
                </c:pt>
                <c:pt idx="3">
                  <c:v>0.2141</c:v>
                </c:pt>
              </c:numCache>
            </c:numRef>
          </c:val>
        </c:ser>
        <c:ser>
          <c:idx val="1"/>
          <c:order val="1"/>
          <c:tx>
            <c:strRef>
              <c:f>Sheet1!$C$1</c:f>
              <c:strCache>
                <c:ptCount val="1"/>
                <c:pt idx="0">
                  <c:v>Baseline (job's prior failure rate)</c:v>
                </c:pt>
              </c:strCache>
            </c:strRef>
          </c:tx>
          <c:spPr>
            <a:solidFill>
              <a:srgbClr val="64748B"/>
            </a:solidFill>
            <a:effectLst/>
          </c:spPr>
          <c:invertIfNegative val="0"/>
          <c:dLbls>
            <c:numFmt formatCode="0.00" sourceLinked="0"/>
            <c:txPr>
              <a:bodyPr/>
              <a:lstStyle/>
              <a:p>
                <a:pPr>
                  <a:defRPr b="0" i="0" strike="noStrike" sz="1100" u="none">
                    <a:solidFill>
                      <a:srgbClr val="1B2432"/>
                    </a:solidFill>
                    <a:latin typeface="+mn-lt"/>
                  </a:defRPr>
                </a:pPr>
              </a:p>
            </c:txPr>
            <c:showLegendKey val="0"/>
            <c:showVal val="1"/>
            <c:showCatName val="0"/>
            <c:showSerName val="0"/>
            <c:showPercent val="0"/>
            <c:showBubbleSize val="0"/>
            <c:showLeaderLines val="0"/>
          </c:dLbls>
          <c:cat>
            <c:multiLvlStrRef>
              <c:f>Sheet1!$A$2:$A$5</c:f>
              <c:multiLvlStrCache>
                <c:ptCount val="4"/>
                <c:lvl>
                  <c:pt idx="0">
                    <c:v>poetry</c:v>
                  </c:pt>
                  <c:pt idx="1">
                    <c:v>fastapi</c:v>
                  </c:pt>
                  <c:pt idx="2">
                    <c:v>prometheus</c:v>
                  </c:pt>
                  <c:pt idx="3">
                    <c:v>dubbo</c:v>
                  </c:pt>
                </c:lvl>
              </c:multiLvlStrCache>
            </c:multiLvlStrRef>
          </c:cat>
          <c:val>
            <c:numRef>
              <c:f>Sheet1!$C$2:$C$5</c:f>
              <c:numCache>
                <c:formatCode>General</c:formatCode>
                <c:ptCount val="4"/>
                <c:pt idx="0">
                  <c:v>0.1403</c:v>
                </c:pt>
                <c:pt idx="1">
                  <c:v>0.3325</c:v>
                </c:pt>
                <c:pt idx="2">
                  <c:v>0.1561</c:v>
                </c:pt>
                <c:pt idx="3">
                  <c:v>0.2168</c:v>
                </c:pt>
              </c:numCache>
            </c:numRef>
          </c:val>
        </c:ser>
        <c:dLbls>
          <c:numFmt formatCode="0.00" sourceLinked="0"/>
          <c:txPr>
            <a:bodyPr/>
            <a:lstStyle/>
            <a:p>
              <a:pPr>
                <a:defRPr b="0" i="0" strike="noStrike" sz="1100" u="none">
                  <a:solidFill>
                    <a:srgbClr val="1B2432"/>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B2432"/>
                </a:solidFill>
                <a:latin typeface="+mn-lt"/>
              </a:defRPr>
            </a:pPr>
            <a:endParaRPr lang="en-US"/>
          </a:p>
        </c:txPr>
        <c:crossAx val="2094734552"/>
        <c:crosses val="autoZero"/>
        <c:auto val="1"/>
        <c:lblAlgn val="ctr"/>
        <c:noMultiLvlLbl val="1"/>
      </c:catAx>
      <c:valAx>
        <c:axId val="2094734552"/>
        <c:scaling>
          <c:orientation val="minMax"/>
          <c:max val="0.5"/>
          <c:min val="0"/>
        </c:scaling>
        <c:delete val="0"/>
        <c:axPos val="l"/>
        <c:majorGridlines>
          <c:spPr>
            <a:ln w="6350" cap="flat">
              <a:solidFill>
                <a:srgbClr val="D5DEDC"/>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4748B"/>
                </a:solidFill>
                <a:latin typeface="+mn-lt"/>
              </a:defRPr>
            </a:pPr>
            <a:endParaRPr lang="en-US"/>
          </a:p>
        </c:txPr>
        <c:crossAx val="2094734554"/>
        <c:crosses val="autoZero"/>
        <c:crossBetween val="between"/>
        <c:majorUnit val="0.1"/>
      </c:valAx>
      <c:spPr>
        <a:noFill/>
        <a:ln>
          <a:noFill/>
        </a:ln>
        <a:effectLst/>
      </c:spPr>
    </c:plotArea>
    <c:legend>
      <c:legendPos val="b"/>
      <c:overlay val="0"/>
      <c:txPr>
        <a:bodyPr/>
        <a:lstStyle/>
        <a:p>
          <a:pPr>
            <a:defRPr sz="1100">
              <a:solidFill>
                <a:srgbClr val="1B2432"/>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B2432"/>
                </a:solidFill>
                <a:latin typeface="+mn-lt"/>
              </a:defRPr>
            </a:pPr>
            <a:r>
              <a:rPr sz="1200" b="0" i="0" u="none" strike="noStrike">
                <a:solidFill>
                  <a:srgbClr val="1B2432"/>
                </a:solidFill>
                <a:latin typeface="+mn-lt"/>
              </a:rPr>
              <a:t>Brier score (lower is better)</a:t>
            </a:r>
          </a:p>
        </c:rich>
      </c:tx>
      <c:layout/>
      <c:overlay val="0"/>
    </c:title>
    <c:autoTitleDeleted val="0"/>
    <c:plotArea>
      <c:layout/>
      <c:barChart>
        <c:barDir val="col"/>
        <c:grouping val="clustered"/>
        <c:varyColors val="0"/>
        <c:ser>
          <c:idx val="0"/>
          <c:order val="0"/>
          <c:tx>
            <c:strRef>
              <c:f>Sheet1!$B$1</c:f>
              <c:strCache>
                <c:ptCount val="1"/>
                <c:pt idx="0">
                  <c:v>Model</c:v>
                </c:pt>
              </c:strCache>
            </c:strRef>
          </c:tx>
          <c:spPr>
            <a:solidFill>
              <a:srgbClr val="0F766E"/>
            </a:solidFill>
            <a:effectLst/>
          </c:spPr>
          <c:invertIfNegative val="0"/>
          <c:dLbls>
            <c:numFmt formatCode="0.000" sourceLinked="0"/>
            <c:txPr>
              <a:bodyPr/>
              <a:lstStyle/>
              <a:p>
                <a:pPr>
                  <a:defRPr b="0" i="0" strike="noStrike" sz="900" u="none">
                    <a:solidFill>
                      <a:srgbClr val="1B2432"/>
                    </a:solidFill>
                    <a:latin typeface="+mn-lt"/>
                  </a:defRPr>
                </a:pPr>
              </a:p>
            </c:txPr>
            <c:showLegendKey val="0"/>
            <c:showVal val="1"/>
            <c:showCatName val="0"/>
            <c:showSerName val="0"/>
            <c:showPercent val="0"/>
            <c:showBubbleSize val="0"/>
            <c:showLeaderLines val="0"/>
          </c:dLbls>
          <c:cat>
            <c:multiLvlStrRef>
              <c:f>Sheet1!$A$2:$A$5</c:f>
              <c:multiLvlStrCache>
                <c:ptCount val="4"/>
                <c:lvl>
                  <c:pt idx="0">
                    <c:v>poetry</c:v>
                  </c:pt>
                  <c:pt idx="1">
                    <c:v>fastapi</c:v>
                  </c:pt>
                  <c:pt idx="2">
                    <c:v>prometheus</c:v>
                  </c:pt>
                  <c:pt idx="3">
                    <c:v>dubbo</c:v>
                  </c:pt>
                </c:lvl>
              </c:multiLvlStrCache>
            </c:multiLvlStrRef>
          </c:cat>
          <c:val>
            <c:numRef>
              <c:f>Sheet1!$B$2:$B$5</c:f>
              <c:numCache>
                <c:formatCode>General</c:formatCode>
                <c:ptCount val="4"/>
                <c:pt idx="0">
                  <c:v>0.0924</c:v>
                </c:pt>
                <c:pt idx="1">
                  <c:v>0.0644</c:v>
                </c:pt>
                <c:pt idx="2">
                  <c:v>0.0386</c:v>
                </c:pt>
                <c:pt idx="3">
                  <c:v>0.0572</c:v>
                </c:pt>
              </c:numCache>
            </c:numRef>
          </c:val>
        </c:ser>
        <c:ser>
          <c:idx val="1"/>
          <c:order val="1"/>
          <c:tx>
            <c:strRef>
              <c:f>Sheet1!$C$1</c:f>
              <c:strCache>
                <c:ptCount val="1"/>
                <c:pt idx="0">
                  <c:v>Baseline</c:v>
                </c:pt>
              </c:strCache>
            </c:strRef>
          </c:tx>
          <c:spPr>
            <a:solidFill>
              <a:srgbClr val="64748B"/>
            </a:solidFill>
            <a:effectLst/>
          </c:spPr>
          <c:invertIfNegative val="0"/>
          <c:dLbls>
            <c:numFmt formatCode="0.000" sourceLinked="0"/>
            <c:txPr>
              <a:bodyPr/>
              <a:lstStyle/>
              <a:p>
                <a:pPr>
                  <a:defRPr b="0" i="0" strike="noStrike" sz="900" u="none">
                    <a:solidFill>
                      <a:srgbClr val="1B2432"/>
                    </a:solidFill>
                    <a:latin typeface="+mn-lt"/>
                  </a:defRPr>
                </a:pPr>
              </a:p>
            </c:txPr>
            <c:showLegendKey val="0"/>
            <c:showVal val="1"/>
            <c:showCatName val="0"/>
            <c:showSerName val="0"/>
            <c:showPercent val="0"/>
            <c:showBubbleSize val="0"/>
            <c:showLeaderLines val="0"/>
          </c:dLbls>
          <c:cat>
            <c:multiLvlStrRef>
              <c:f>Sheet1!$A$2:$A$5</c:f>
              <c:multiLvlStrCache>
                <c:ptCount val="4"/>
                <c:lvl>
                  <c:pt idx="0">
                    <c:v>poetry</c:v>
                  </c:pt>
                  <c:pt idx="1">
                    <c:v>fastapi</c:v>
                  </c:pt>
                  <c:pt idx="2">
                    <c:v>prometheus</c:v>
                  </c:pt>
                  <c:pt idx="3">
                    <c:v>dubbo</c:v>
                  </c:pt>
                </c:lvl>
              </c:multiLvlStrCache>
            </c:multiLvlStrRef>
          </c:cat>
          <c:val>
            <c:numRef>
              <c:f>Sheet1!$C$2:$C$5</c:f>
              <c:numCache>
                <c:formatCode>General</c:formatCode>
                <c:ptCount val="4"/>
                <c:pt idx="0">
                  <c:v>0.0847</c:v>
                </c:pt>
                <c:pt idx="1">
                  <c:v>0.0617</c:v>
                </c:pt>
                <c:pt idx="2">
                  <c:v>0.0376</c:v>
                </c:pt>
                <c:pt idx="3">
                  <c:v>0.0502</c:v>
                </c:pt>
              </c:numCache>
            </c:numRef>
          </c:val>
        </c:ser>
        <c:dLbls>
          <c:numFmt formatCode="0.000" sourceLinked="0"/>
          <c:txPr>
            <a:bodyPr/>
            <a:lstStyle/>
            <a:p>
              <a:pPr>
                <a:defRPr b="0" i="0" strike="noStrike" sz="900" u="none">
                  <a:solidFill>
                    <a:srgbClr val="1B2432"/>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B2432"/>
                </a:solidFill>
                <a:latin typeface="+mn-lt"/>
              </a:defRPr>
            </a:pPr>
            <a:endParaRPr lang="en-US"/>
          </a:p>
        </c:txPr>
        <c:crossAx val="2094734552"/>
        <c:crosses val="autoZero"/>
        <c:auto val="1"/>
        <c:lblAlgn val="ctr"/>
        <c:noMultiLvlLbl val="1"/>
      </c:catAx>
      <c:valAx>
        <c:axId val="2094734552"/>
        <c:scaling>
          <c:orientation val="minMax"/>
          <c:max val="0.12"/>
          <c:min val="0"/>
        </c:scaling>
        <c:delete val="0"/>
        <c:axPos val="l"/>
        <c:majorGridlines>
          <c:spPr>
            <a:ln w="6350" cap="flat">
              <a:solidFill>
                <a:srgbClr val="D5DEDC"/>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4748B"/>
                </a:solidFill>
                <a:latin typeface="+mn-lt"/>
              </a:defRPr>
            </a:pPr>
            <a:endParaRPr lang="en-US"/>
          </a:p>
        </c:txPr>
        <c:crossAx val="2094734554"/>
        <c:crosses val="autoZero"/>
        <c:crossBetween val="between"/>
        <c:majorUnit val="0.02"/>
      </c:valAx>
      <c:spPr>
        <a:noFill/>
        <a:ln>
          <a:noFill/>
        </a:ln>
        <a:effectLst/>
      </c:spPr>
    </c:plotArea>
    <c:legend>
      <c:legendPos val="b"/>
      <c:overlay val="0"/>
      <c:txPr>
        <a:bodyPr/>
        <a:lstStyle/>
        <a:p>
          <a:pPr>
            <a:defRPr sz="1100">
              <a:solidFill>
                <a:srgbClr val="1B2432"/>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B2432"/>
                </a:solidFill>
                <a:latin typeface="+mn-lt"/>
              </a:defRPr>
            </a:pPr>
            <a:r>
              <a:rPr sz="1200" b="0" i="0" u="none" strike="noStrike">
                <a:solidFill>
                  <a:srgbClr val="1B2432"/>
                </a:solidFill>
                <a:latin typeface="+mn-lt"/>
              </a:rPr>
              <a:t>MEASURED median, 6 real runs each (seconds)</a:t>
            </a:r>
          </a:p>
        </c:rich>
      </c:tx>
      <c:layout/>
      <c:overlay val="0"/>
    </c:title>
    <c:autoTitleDeleted val="0"/>
    <c:plotArea>
      <c:layout/>
      <c:barChart>
        <c:barDir val="col"/>
        <c:grouping val="clustered"/>
        <c:varyColors val="0"/>
        <c:ser>
          <c:idx val="0"/>
          <c:order val="0"/>
          <c:tx>
            <c:strRef>
              <c:f>Sheet1!$B$1</c:f>
              <c:strCache>
                <c:ptCount val="1"/>
                <c:pt idx="0">
                  <c:v>Critical path (s)</c:v>
                </c:pt>
              </c:strCache>
            </c:strRef>
          </c:tx>
          <c:spPr>
            <a:solidFill>
              <a:srgbClr val="64748B"/>
            </a:solidFill>
            <a:effectLst/>
          </c:spPr>
          <c:invertIfNegative val="0"/>
          <c:dLbls>
            <c:numFmt formatCode="0.0" sourceLinked="0"/>
            <c:txPr>
              <a:bodyPr/>
              <a:lstStyle/>
              <a:p>
                <a:pPr>
                  <a:defRPr b="0" i="0" strike="noStrike" sz="1100" u="none">
                    <a:solidFill>
                      <a:srgbClr val="1B2432"/>
                    </a:solidFill>
                    <a:latin typeface="+mn-lt"/>
                  </a:defRPr>
                </a:pPr>
              </a:p>
            </c:txPr>
            <c:showLegendKey val="0"/>
            <c:showVal val="1"/>
            <c:showCatName val="0"/>
            <c:showSerName val="0"/>
            <c:showPercent val="0"/>
            <c:showBubbleSize val="0"/>
            <c:showLeaderLines val="0"/>
          </c:dLbls>
          <c:dPt>
            <c:idx val="0"/>
            <c:invertIfNegative val="0"/>
            <c:bubble3D val="0"/>
            <c:spPr>
              <a:solidFill>
                <a:srgbClr val="64748B"/>
              </a:solidFill>
              <a:effectLst/>
            </c:spPr>
          </c:dPt>
          <c:dPt>
            <c:idx val="1"/>
            <c:invertIfNegative val="0"/>
            <c:bubble3D val="0"/>
            <c:spPr>
              <a:solidFill>
                <a:srgbClr val="0F766E"/>
              </a:solidFill>
              <a:effectLst/>
            </c:spPr>
          </c:dPt>
          <c:cat>
            <c:multiLvlStrRef>
              <c:f>Sheet1!$A$2:$A$3</c:f>
              <c:multiLvlStrCache>
                <c:ptCount val="2"/>
                <c:lvl>
                  <c:pt idx="0">
                    <c:v>Original workflow</c:v>
                  </c:pt>
                  <c:pt idx="1">
                    <c:v>Safe gate relaxed</c:v>
                  </c:pt>
                </c:lvl>
              </c:multiLvlStrCache>
            </c:multiLvlStrRef>
          </c:cat>
          <c:val>
            <c:numRef>
              <c:f>Sheet1!$B$2:$B$3</c:f>
              <c:numCache>
                <c:formatCode>General</c:formatCode>
                <c:ptCount val="2"/>
                <c:pt idx="0">
                  <c:v>159.5</c:v>
                </c:pt>
                <c:pt idx="1">
                  <c:v>135.5</c:v>
                </c:pt>
              </c:numCache>
            </c:numRef>
          </c:val>
        </c:ser>
        <c:dLbls>
          <c:numFmt formatCode="0.0" sourceLinked="0"/>
          <c:txPr>
            <a:bodyPr/>
            <a:lstStyle/>
            <a:p>
              <a:pPr>
                <a:defRPr b="0" i="0" strike="noStrike" sz="1100" u="none">
                  <a:solidFill>
                    <a:srgbClr val="1B2432"/>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B2432"/>
                </a:solidFill>
                <a:latin typeface="+mn-lt"/>
              </a:defRPr>
            </a:pPr>
            <a:endParaRPr lang="en-US"/>
          </a:p>
        </c:txPr>
        <c:crossAx val="2094734552"/>
        <c:crosses val="autoZero"/>
        <c:auto val="1"/>
        <c:lblAlgn val="ctr"/>
        <c:noMultiLvlLbl val="1"/>
      </c:catAx>
      <c:valAx>
        <c:axId val="2094734552"/>
        <c:scaling>
          <c:orientation val="minMax"/>
          <c:max val="200"/>
          <c:min val="0"/>
        </c:scaling>
        <c:delete val="0"/>
        <c:axPos val="l"/>
        <c:majorGridlines>
          <c:spPr>
            <a:ln w="6350" cap="flat">
              <a:solidFill>
                <a:srgbClr val="D5DEDC"/>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4748B"/>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B2432"/>
                </a:solidFill>
                <a:latin typeface="+mn-lt"/>
              </a:defRPr>
            </a:pPr>
            <a:r>
              <a:rPr sz="1200" b="0" i="0" u="none" strike="noStrike">
                <a:solidFill>
                  <a:srgbClr val="1B2432"/>
                </a:solidFill>
                <a:latin typeface="+mn-lt"/>
              </a:rPr>
              <a:t>Failed jobs that are only repeat alerts (%)</a:t>
            </a:r>
          </a:p>
        </c:rich>
      </c:tx>
      <c:layout/>
      <c:overlay val="0"/>
    </c:title>
    <c:autoTitleDeleted val="0"/>
    <c:plotArea>
      <c:layout/>
      <c:barChart>
        <c:barDir val="bar"/>
        <c:grouping val="clustered"/>
        <c:varyColors val="0"/>
        <c:ser>
          <c:idx val="0"/>
          <c:order val="0"/>
          <c:tx>
            <c:strRef>
              <c:f>Sheet1!$B$1</c:f>
              <c:strCache>
                <c:ptCount val="1"/>
                <c:pt idx="0">
                  <c:v>Aggregator share</c:v>
                </c:pt>
              </c:strCache>
            </c:strRef>
          </c:tx>
          <c:spPr>
            <a:solidFill>
              <a:srgbClr val="D97706"/>
            </a:solidFill>
            <a:effectLst/>
          </c:spPr>
          <c:invertIfNegative val="0"/>
          <c:dLbls>
            <c:numFmt formatCode="0&quot;%&quot;" sourceLinked="0"/>
            <c:txPr>
              <a:bodyPr/>
              <a:lstStyle/>
              <a:p>
                <a:pPr>
                  <a:defRPr b="0" i="0" strike="noStrike" sz="1100" u="none">
                    <a:solidFill>
                      <a:srgbClr val="1B2432"/>
                    </a:solidFill>
                    <a:latin typeface="+mn-lt"/>
                  </a:defRPr>
                </a:pPr>
              </a:p>
            </c:txPr>
            <c:showLegendKey val="0"/>
            <c:showVal val="1"/>
            <c:showCatName val="0"/>
            <c:showSerName val="0"/>
            <c:showPercent val="0"/>
            <c:showBubbleSize val="0"/>
            <c:showLeaderLines val="0"/>
          </c:dLbls>
          <c:cat>
            <c:multiLvlStrRef>
              <c:f>Sheet1!$A$2:$A$7</c:f>
              <c:multiLvlStrCache>
                <c:ptCount val="6"/>
                <c:lvl>
                  <c:pt idx="0">
                    <c:v>fastapi</c:v>
                  </c:pt>
                  <c:pt idx="1">
                    <c:v>poetry</c:v>
                  </c:pt>
                  <c:pt idx="2">
                    <c:v>dubbo</c:v>
                  </c:pt>
                  <c:pt idx="3">
                    <c:v>uv</c:v>
                  </c:pt>
                  <c:pt idx="4">
                    <c:v>pydantic</c:v>
                  </c:pt>
                  <c:pt idx="5">
                    <c:v>ruff</c:v>
                  </c:pt>
                </c:lvl>
              </c:multiLvlStrCache>
            </c:multiLvlStrRef>
          </c:cat>
          <c:val>
            <c:numRef>
              <c:f>Sheet1!$B$2:$B$7</c:f>
              <c:numCache>
                <c:formatCode>General</c:formatCode>
                <c:ptCount val="6"/>
                <c:pt idx="0">
                  <c:v>51</c:v>
                </c:pt>
                <c:pt idx="1">
                  <c:v>50</c:v>
                </c:pt>
                <c:pt idx="2">
                  <c:v>45</c:v>
                </c:pt>
                <c:pt idx="3">
                  <c:v>32</c:v>
                </c:pt>
                <c:pt idx="4">
                  <c:v>30</c:v>
                </c:pt>
                <c:pt idx="5">
                  <c:v>28</c:v>
                </c:pt>
              </c:numCache>
            </c:numRef>
          </c:val>
        </c:ser>
        <c:dLbls>
          <c:numFmt formatCode="0&quot;%&quot;" sourceLinked="0"/>
          <c:txPr>
            <a:bodyPr/>
            <a:lstStyle/>
            <a:p>
              <a:pPr>
                <a:defRPr b="0" i="0" strike="noStrike" sz="1100" u="none">
                  <a:solidFill>
                    <a:srgbClr val="1B2432"/>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B2432"/>
                </a:solidFill>
                <a:latin typeface="+mn-lt"/>
              </a:defRPr>
            </a:pPr>
            <a:endParaRPr lang="en-US"/>
          </a:p>
        </c:txPr>
        <c:crossAx val="2094734552"/>
        <c:crosses val="autoZero"/>
        <c:auto val="1"/>
        <c:lblAlgn val="ctr"/>
        <c:noMultiLvlLbl val="1"/>
      </c:catAx>
      <c:valAx>
        <c:axId val="2094734552"/>
        <c:scaling>
          <c:orientation val="minMax"/>
          <c:max val="65"/>
          <c:min val="0"/>
        </c:scaling>
        <c:delete val="1"/>
        <c:axPos val="b"/>
        <c:majorGridlines>
          <c:spPr>
            <a:ln w="6350" cap="flat">
              <a:solidFill>
                <a:srgbClr val="D5DEDC"/>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64748B"/>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B2432"/>
                </a:solidFill>
                <a:latin typeface="+mn-lt"/>
              </a:defRPr>
            </a:pPr>
            <a:r>
              <a:rPr sz="1200" b="0" i="0" u="none" strike="noStrike">
                <a:solidFill>
                  <a:srgbClr val="1B2432"/>
                </a:solidFill>
                <a:latin typeface="+mn-lt"/>
              </a:rPr>
              <a:t>uv, live PR-AUC (higher is better)</a:t>
            </a:r>
          </a:p>
        </c:rich>
      </c:tx>
      <c:layout/>
      <c:overlay val="0"/>
    </c:title>
    <c:autoTitleDeleted val="0"/>
    <c:plotArea>
      <c:layout/>
      <c:barChart>
        <c:barDir val="col"/>
        <c:grouping val="clustered"/>
        <c:varyColors val="0"/>
        <c:ser>
          <c:idx val="0"/>
          <c:order val="0"/>
          <c:tx>
            <c:strRef>
              <c:f>Sheet1!$B$1</c:f>
              <c:strCache>
                <c:ptCount val="1"/>
                <c:pt idx="0">
                  <c:v>PR-AUC</c:v>
                </c:pt>
              </c:strCache>
            </c:strRef>
          </c:tx>
          <c:spPr>
            <a:solidFill>
              <a:srgbClr val="64748B"/>
            </a:solidFill>
            <a:effectLst/>
          </c:spPr>
          <c:invertIfNegative val="0"/>
          <c:dLbls>
            <c:numFmt formatCode="0.000" sourceLinked="0"/>
            <c:txPr>
              <a:bodyPr/>
              <a:lstStyle/>
              <a:p>
                <a:pPr>
                  <a:defRPr b="0" i="0" strike="noStrike" sz="1100" u="none">
                    <a:solidFill>
                      <a:srgbClr val="1B2432"/>
                    </a:solidFill>
                    <a:latin typeface="+mn-lt"/>
                  </a:defRPr>
                </a:pPr>
              </a:p>
            </c:txPr>
            <c:showLegendKey val="0"/>
            <c:showVal val="1"/>
            <c:showCatName val="0"/>
            <c:showSerName val="0"/>
            <c:showPercent val="0"/>
            <c:showBubbleSize val="0"/>
            <c:showLeaderLines val="0"/>
          </c:dLbls>
          <c:dPt>
            <c:idx val="0"/>
            <c:invertIfNegative val="0"/>
            <c:bubble3D val="0"/>
            <c:spPr>
              <a:solidFill>
                <a:srgbClr val="64748B"/>
              </a:solidFill>
              <a:effectLst/>
            </c:spPr>
          </c:dPt>
          <c:dPt>
            <c:idx val="1"/>
            <c:invertIfNegative val="0"/>
            <c:bubble3D val="0"/>
            <c:spPr>
              <a:solidFill>
                <a:srgbClr val="0F766E"/>
              </a:solidFill>
              <a:effectLst/>
            </c:spPr>
          </c:dPt>
          <c:dPt>
            <c:idx val="2"/>
            <c:invertIfNegative val="0"/>
            <c:bubble3D val="0"/>
            <c:spPr>
              <a:solidFill>
                <a:srgbClr val="D97706"/>
              </a:solidFill>
              <a:effectLst/>
            </c:spPr>
          </c:dPt>
          <c:cat>
            <c:multiLvlStrRef>
              <c:f>Sheet1!$A$2:$A$4</c:f>
              <c:multiLvlStrCache>
                <c:ptCount val="3"/>
                <c:lvl>
                  <c:pt idx="0">
                    <c:v>Baseline</c:v>
                  </c:pt>
                  <c:pt idx="1">
                    <c:v>v2 model</c:v>
                  </c:pt>
                  <c:pt idx="2">
                    <c:v>Old logistic</c:v>
                  </c:pt>
                </c:lvl>
              </c:multiLvlStrCache>
            </c:multiLvlStrRef>
          </c:cat>
          <c:val>
            <c:numRef>
              <c:f>Sheet1!$B$2:$B$4</c:f>
              <c:numCache>
                <c:formatCode>General</c:formatCode>
                <c:ptCount val="3"/>
                <c:pt idx="0">
                  <c:v>0.341</c:v>
                </c:pt>
                <c:pt idx="1">
                  <c:v>0.252</c:v>
                </c:pt>
                <c:pt idx="2">
                  <c:v>0.154</c:v>
                </c:pt>
              </c:numCache>
            </c:numRef>
          </c:val>
        </c:ser>
        <c:dLbls>
          <c:numFmt formatCode="0.000" sourceLinked="0"/>
          <c:txPr>
            <a:bodyPr/>
            <a:lstStyle/>
            <a:p>
              <a:pPr>
                <a:defRPr b="0" i="0" strike="noStrike" sz="1100" u="none">
                  <a:solidFill>
                    <a:srgbClr val="1B2432"/>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B2432"/>
                </a:solidFill>
                <a:latin typeface="+mn-lt"/>
              </a:defRPr>
            </a:pPr>
            <a:endParaRPr lang="en-US"/>
          </a:p>
        </c:txPr>
        <c:crossAx val="2094734552"/>
        <c:crosses val="autoZero"/>
        <c:auto val="1"/>
        <c:lblAlgn val="ctr"/>
        <c:noMultiLvlLbl val="1"/>
      </c:catAx>
      <c:valAx>
        <c:axId val="2094734552"/>
        <c:scaling>
          <c:orientation val="minMax"/>
          <c:max val="0.5"/>
          <c:min val="0"/>
        </c:scaling>
        <c:delete val="0"/>
        <c:axPos val="l"/>
        <c:majorGridlines>
          <c:spPr>
            <a:ln w="6350" cap="flat">
              <a:solidFill>
                <a:srgbClr val="D5DEDC"/>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4748B"/>
                </a:solidFill>
                <a:latin typeface="+mn-lt"/>
              </a:defRPr>
            </a:pPr>
            <a:endParaRPr lang="en-US"/>
          </a:p>
        </c:txPr>
        <c:crossAx val="2094734554"/>
        <c:crosses val="autoZero"/>
        <c:crossBetween val="between"/>
        <c:majorUnit val="0.1"/>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Simple opening. Our aim was a system that reads the history of a GitHub Actions pipeline, predicts which jobs fail or run long, and re-orders the pipeline to make CI faster. Today I will show what was built, what the measurements say (including the negative results), and what is still open. I will say clearly which numbers are final and which are interim.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slide of the whole story. We built the full chain and tested it on nine real repositories. The honest result is mixed: the models help only in some repositories, our improvement attempt missed the bar we set beforehand, and scheduling is not faster by default. The solid contributions are the evaluation method, the failure triage and a working, tested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We read real run history, build a graph linking source files, jobs and cache keys, turn that into features, predict failure, duration and cache misses, schedule the jobs while respecting the needs rules, and write a PROPOSED workflow plus a diff. The original file is never changed. If there is too little real history the system refuses to predict instead of guessing.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 real repositories, about 4,600 runs and 72,000 run-and-job rows. Several are very different in size, so intervals are wide for the small ones. The important points are in the right column: we only use information that existed when a run started, we test on later runs, and we wrote the plans for the held-out repositories before looking at their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baseline is the simplest possible predictor: this job's own recent failure rate. PR-AUC measures how well failures are ranked; higher is better. Our default failure model is clearly better than the baseline in fastapi, and in the held-out pydantic repository, and it is not distinguishable in the others. It is never significantly worse, which is why it is the default. Be careful with the claim: a gain in two repositories is not a general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tried to improve the failure model with 15 new features and a stricter, more realistic protocol. Before looking at test results we wrote down the success criterion: beat the baseline in at least 3 of 9 repositories with none worse. We got 2. A pooled model trained on all repositories reached 3, but we designed it after seeing results, so it only counts as a lead. We froze it and tested it on fresh data. After two days of fresh data it wins in 1 of 3 judged repositories; if the final run looked like this it would be rejected. That is not final: the rule needs about two weeks, so the verdict stays open until 26 October.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model score of 0.91 does not mean a 91 percent chance of failure. We measured this. In every repository the baseline had an equal or lower Brier score, and the model is a little over-confident in its top group, for example fastapi predicted 0.49 and saw 0.37. We tried two recalibrations; neither helped in three of four repositories. So we do not apply a fix. The dashboard shows the score next to the job's own failure rate and the failure rate actually seen on unseen rows with similar scores, and flags scores above anything seen before.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default plan keeps the structure of the workflow, so the estimated saving is zero; we say so. One opt-in option removes a needs link only when we can prove it is safe. On the project's own lint-then-test pipeline we measured it with real runs, six against six, alternating order: the critical path fell from 159.5 to 135.5 seconds, about 15 percent, p equals 0.013, while billable time rose about 4 percent, not significant. That is one simple pipeline. Replayed on the history of nine mature repositories the gain is about zero, because their slow part is the test and build jobs themselves. Skipping jobs the graph says a diff cannot reach saves 12 to 17 percent of billable time in two repositories but would hide 3 to 10 percent of failing runs, so it is an advisory only. A separate real run showed the generated workflow behaves identically.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classify every failed job from recorded outcomes. In poetry and fastapi about half of all failed jobs are aggregator jobs, the final status job that only repeats an upstream failure, so raw failure counts overstate independent failures by about a factor of two. In four repositories 10 to 25 percent of red runs needed no code change at all: every independent failure was pre-existing, flaky or unrelated. Be honest about limits: flakiness is under-counted because a re-run overwrites the earlier attempt, the classes are heuristics, and nobody has checked them against what developers did.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prospective test: predictions are written to a tamper-evident ledger when a run is queued, before any job finishes, and judged afterwards. After about two days only uv has enough outcomes: 46 runs, 739 job predictions, 43 failures. Neither model beats the simple baseline there; the old logistic model is significantly worse, the new model is indistinguishable. ruff had no failures, and prometheus cannot be scored because its runs finish before our first poll. This is a demonstration of the method and a small sample, not a significance test. The final evaluation is scheduled for 19 October.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if possible: start with the poetry dashboard, open Models and probabilities to show the score next to the base rate, then What-if and pick a dependency file. Everything on these pages comes from real runs; the evidence pages simply show rows of the reports we generated. If a repository has too little history the page says why and shows no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things to point at. First, reproducibility: the same repository used to give different numbers at different hours because the hour of the day is a model feature and it was read from the clock; scoring time is now an explicit input, and two full runs gave byte-identical output. Second, 428 automated tests. Third, the tamper-evident prediction ledger. Fourth, the system refuses to predict when history is too thin; before we back-filled job logs, five of nine repositories were declined, now three 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final is scheduled and automated. Thursday evening the interim results are refreshed so today's numbers are not stale. The live test ends on 19 October, the logistic-default verdict is on 21 October, the pooled-model verdict on 26 October. Be upfront about the limits on the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honest position. We claim a rigorous evaluation method, honest negative results, a working tested system and a useful failure triage. We do not claim a general speed-up, calibrated probabilities, or that the pooled model works. Then ask for guidance on the three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457200" y="4828032"/>
            <a:ext cx="6400800" cy="228600"/>
          </a:xfrm>
          <a:prstGeom prst="rect">
            <a:avLst/>
          </a:prstGeom>
          <a:noFill/>
          <a:ln/>
        </p:spPr>
        <p:txBody>
          <a:bodyPr wrap="square" lIns="0" tIns="0" rIns="0" bIns="0" rtlCol="0" anchor="ctr"/>
          <a:lstStyle/>
          <a:p>
            <a:pPr indent="0" marL="0">
              <a:buNone/>
            </a:pPr>
            <a:r>
              <a:rPr lang="en-US" sz="1000" dirty="0">
                <a:solidFill>
                  <a:schemeClr val="accent5"/>
                </a:solidFill>
              </a:rPr>
              <a:t>GitHub Actions Performance Optimizer  |  guide review, 16 Oct 2026</a:t>
            </a:r>
            <a:endParaRPr lang="en-US" sz="1000" dirty="0"/>
          </a:p>
        </p:txBody>
      </p:sp>
      <p:sp>
        <p:nvSpPr>
          <p:cNvPr id="3" name="Text 1"/>
          <p:cNvSpPr/>
          <p:nvPr>
            <p:ph idx="101" type="title" hasCustomPrompt="1"/>
          </p:nvPr>
        </p:nvSpPr>
        <p:spPr>
          <a:xfrm>
            <a:off x="457200" y="274320"/>
            <a:ext cx="8229600" cy="64008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image" Target="../media/image-11-2.jpg"/><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457200"/>
            <a:ext cx="8046720" cy="1371600"/>
          </a:xfrm>
          <a:prstGeom prst="rect">
            <a:avLst/>
          </a:prstGeom>
          <a:noFill/>
          <a:ln/>
        </p:spPr>
        <p:txBody>
          <a:bodyPr wrap="square" lIns="0" tIns="0" rIns="0" bIns="0" rtlCol="0" anchor="ctr"/>
          <a:lstStyle/>
          <a:p>
            <a:pPr indent="0" marL="0">
              <a:buNone/>
            </a:pPr>
            <a:r>
              <a:rPr lang="en-US" sz="4000" b="1" dirty="0">
                <a:solidFill>
                  <a:schemeClr val="bg1"/>
                </a:solidFill>
                <a:latin typeface="Cambria" pitchFamily="34" charset="0"/>
                <a:ea typeface="Cambria" pitchFamily="34" charset="-122"/>
                <a:cs typeface="Cambria" pitchFamily="34" charset="-120"/>
              </a:rPr>
              <a:t>GitHub Actions Performance Optimizer</a:t>
            </a:r>
            <a:endParaRPr lang="en-US" sz="4000" dirty="0"/>
          </a:p>
        </p:txBody>
      </p:sp>
      <p:sp>
        <p:nvSpPr>
          <p:cNvPr id="3" name="Text 1"/>
          <p:cNvSpPr txBox="1"/>
          <p:nvPr/>
        </p:nvSpPr>
        <p:spPr>
          <a:xfrm>
            <a:off x="548640" y="1920240"/>
            <a:ext cx="7680960" cy="731520"/>
          </a:xfrm>
          <a:prstGeom prst="rect">
            <a:avLst/>
          </a:prstGeom>
          <a:noFill/>
          <a:ln/>
        </p:spPr>
        <p:txBody>
          <a:bodyPr wrap="square" lIns="0" tIns="0" rIns="0" bIns="0" rtlCol="0" anchor="ctr"/>
          <a:lstStyle/>
          <a:p>
            <a:pPr indent="0" marL="0">
              <a:buNone/>
            </a:pPr>
            <a:r>
              <a:rPr lang="en-US" sz="1800" dirty="0">
                <a:solidFill>
                  <a:srgbClr val="CFE3E0"/>
                </a:solidFill>
              </a:rPr>
              <a:t>A machine-learning, dependency-graph-aware study of CI/CD pipelines, evaluated on real workflow history</a:t>
            </a:r>
            <a:endParaRPr lang="en-US" sz="1800" dirty="0"/>
          </a:p>
        </p:txBody>
      </p:sp>
      <p:sp>
        <p:nvSpPr>
          <p:cNvPr id="4" name="chain-Repository"/>
          <p:cNvSpPr/>
          <p:nvPr/>
        </p:nvSpPr>
        <p:spPr>
          <a:xfrm>
            <a:off x="548640" y="2880360"/>
            <a:ext cx="1207008" cy="502920"/>
          </a:xfrm>
          <a:prstGeom prst="roundRect">
            <a:avLst>
              <a:gd name="adj" fmla="val 14545"/>
            </a:avLst>
          </a:prstGeom>
          <a:solidFill>
            <a:srgbClr val="1E5557"/>
          </a:solidFill>
          <a:ln w="12700">
            <a:solidFill>
              <a:srgbClr val="2F7A7C"/>
            </a:solidFill>
            <a:prstDash val="solid"/>
          </a:ln>
        </p:spPr>
      </p:sp>
      <p:sp>
        <p:nvSpPr>
          <p:cNvPr id="5" name="Text 3"/>
          <p:cNvSpPr txBox="1"/>
          <p:nvPr/>
        </p:nvSpPr>
        <p:spPr>
          <a:xfrm>
            <a:off x="548640" y="2880360"/>
            <a:ext cx="1207008" cy="502920"/>
          </a:xfrm>
          <a:prstGeom prst="rect">
            <a:avLst/>
          </a:prstGeom>
          <a:noFill/>
          <a:ln/>
        </p:spPr>
        <p:txBody>
          <a:bodyPr wrap="square" lIns="0" tIns="0" rIns="0" bIns="0" rtlCol="0" anchor="ctr"/>
          <a:lstStyle/>
          <a:p>
            <a:pPr algn="ctr" indent="0" marL="0">
              <a:buNone/>
            </a:pPr>
            <a:r>
              <a:rPr lang="en-US" sz="1200" b="1" dirty="0">
                <a:solidFill>
                  <a:schemeClr val="bg1"/>
                </a:solidFill>
              </a:rPr>
              <a:t>Repository</a:t>
            </a:r>
            <a:endParaRPr lang="en-US" sz="1200" dirty="0"/>
          </a:p>
        </p:txBody>
      </p:sp>
      <p:sp>
        <p:nvSpPr>
          <p:cNvPr id="6" name="Text 4"/>
          <p:cNvSpPr txBox="1"/>
          <p:nvPr/>
        </p:nvSpPr>
        <p:spPr>
          <a:xfrm>
            <a:off x="1755648" y="2880360"/>
            <a:ext cx="164592" cy="502920"/>
          </a:xfrm>
          <a:prstGeom prst="rect">
            <a:avLst/>
          </a:prstGeom>
          <a:noFill/>
          <a:ln/>
        </p:spPr>
        <p:txBody>
          <a:bodyPr wrap="square" lIns="0" tIns="0" rIns="0" bIns="0" rtlCol="0" anchor="ctr"/>
          <a:lstStyle/>
          <a:p>
            <a:pPr algn="ctr" indent="0" marL="0">
              <a:buNone/>
            </a:pPr>
            <a:r>
              <a:rPr lang="en-US" sz="1400" b="1" dirty="0">
                <a:solidFill>
                  <a:srgbClr val="CFE3E0"/>
                </a:solidFill>
              </a:rPr>
              <a:t>&gt;</a:t>
            </a:r>
            <a:endParaRPr lang="en-US" sz="1400" dirty="0"/>
          </a:p>
        </p:txBody>
      </p:sp>
      <p:sp>
        <p:nvSpPr>
          <p:cNvPr id="7" name="chain-Graph"/>
          <p:cNvSpPr/>
          <p:nvPr/>
        </p:nvSpPr>
        <p:spPr>
          <a:xfrm>
            <a:off x="1920240" y="2880360"/>
            <a:ext cx="1207008" cy="502920"/>
          </a:xfrm>
          <a:prstGeom prst="roundRect">
            <a:avLst>
              <a:gd name="adj" fmla="val 14545"/>
            </a:avLst>
          </a:prstGeom>
          <a:solidFill>
            <a:srgbClr val="1E5557"/>
          </a:solidFill>
          <a:ln w="12700">
            <a:solidFill>
              <a:srgbClr val="2F7A7C"/>
            </a:solidFill>
            <a:prstDash val="solid"/>
          </a:ln>
        </p:spPr>
      </p:sp>
      <p:sp>
        <p:nvSpPr>
          <p:cNvPr id="8" name="Text 6"/>
          <p:cNvSpPr txBox="1"/>
          <p:nvPr/>
        </p:nvSpPr>
        <p:spPr>
          <a:xfrm>
            <a:off x="1920240" y="2880360"/>
            <a:ext cx="1207008" cy="502920"/>
          </a:xfrm>
          <a:prstGeom prst="rect">
            <a:avLst/>
          </a:prstGeom>
          <a:noFill/>
          <a:ln/>
        </p:spPr>
        <p:txBody>
          <a:bodyPr wrap="square" lIns="0" tIns="0" rIns="0" bIns="0" rtlCol="0" anchor="ctr"/>
          <a:lstStyle/>
          <a:p>
            <a:pPr algn="ctr" indent="0" marL="0">
              <a:buNone/>
            </a:pPr>
            <a:r>
              <a:rPr lang="en-US" sz="1200" b="1" dirty="0">
                <a:solidFill>
                  <a:schemeClr val="bg1"/>
                </a:solidFill>
              </a:rPr>
              <a:t>Graph</a:t>
            </a:r>
            <a:endParaRPr lang="en-US" sz="1200" dirty="0"/>
          </a:p>
        </p:txBody>
      </p:sp>
      <p:sp>
        <p:nvSpPr>
          <p:cNvPr id="9" name="Text 7"/>
          <p:cNvSpPr txBox="1"/>
          <p:nvPr/>
        </p:nvSpPr>
        <p:spPr>
          <a:xfrm>
            <a:off x="3127248" y="2880360"/>
            <a:ext cx="164592" cy="502920"/>
          </a:xfrm>
          <a:prstGeom prst="rect">
            <a:avLst/>
          </a:prstGeom>
          <a:noFill/>
          <a:ln/>
        </p:spPr>
        <p:txBody>
          <a:bodyPr wrap="square" lIns="0" tIns="0" rIns="0" bIns="0" rtlCol="0" anchor="ctr"/>
          <a:lstStyle/>
          <a:p>
            <a:pPr algn="ctr" indent="0" marL="0">
              <a:buNone/>
            </a:pPr>
            <a:r>
              <a:rPr lang="en-US" sz="1400" b="1" dirty="0">
                <a:solidFill>
                  <a:srgbClr val="CFE3E0"/>
                </a:solidFill>
              </a:rPr>
              <a:t>&gt;</a:t>
            </a:r>
            <a:endParaRPr lang="en-US" sz="1400" dirty="0"/>
          </a:p>
        </p:txBody>
      </p:sp>
      <p:sp>
        <p:nvSpPr>
          <p:cNvPr id="10" name="chain-Features"/>
          <p:cNvSpPr/>
          <p:nvPr/>
        </p:nvSpPr>
        <p:spPr>
          <a:xfrm>
            <a:off x="3291840" y="2880360"/>
            <a:ext cx="1207008" cy="502920"/>
          </a:xfrm>
          <a:prstGeom prst="roundRect">
            <a:avLst>
              <a:gd name="adj" fmla="val 14545"/>
            </a:avLst>
          </a:prstGeom>
          <a:solidFill>
            <a:srgbClr val="1E5557"/>
          </a:solidFill>
          <a:ln w="12700">
            <a:solidFill>
              <a:srgbClr val="2F7A7C"/>
            </a:solidFill>
            <a:prstDash val="solid"/>
          </a:ln>
        </p:spPr>
      </p:sp>
      <p:sp>
        <p:nvSpPr>
          <p:cNvPr id="11" name="Text 9"/>
          <p:cNvSpPr txBox="1"/>
          <p:nvPr/>
        </p:nvSpPr>
        <p:spPr>
          <a:xfrm>
            <a:off x="3291840" y="2880360"/>
            <a:ext cx="1207008" cy="502920"/>
          </a:xfrm>
          <a:prstGeom prst="rect">
            <a:avLst/>
          </a:prstGeom>
          <a:noFill/>
          <a:ln/>
        </p:spPr>
        <p:txBody>
          <a:bodyPr wrap="square" lIns="0" tIns="0" rIns="0" bIns="0" rtlCol="0" anchor="ctr"/>
          <a:lstStyle/>
          <a:p>
            <a:pPr algn="ctr" indent="0" marL="0">
              <a:buNone/>
            </a:pPr>
            <a:r>
              <a:rPr lang="en-US" sz="1200" b="1" dirty="0">
                <a:solidFill>
                  <a:schemeClr val="bg1"/>
                </a:solidFill>
              </a:rPr>
              <a:t>Features</a:t>
            </a:r>
            <a:endParaRPr lang="en-US" sz="1200" dirty="0"/>
          </a:p>
        </p:txBody>
      </p:sp>
      <p:sp>
        <p:nvSpPr>
          <p:cNvPr id="12" name="Text 10"/>
          <p:cNvSpPr txBox="1"/>
          <p:nvPr/>
        </p:nvSpPr>
        <p:spPr>
          <a:xfrm>
            <a:off x="4498848" y="2880360"/>
            <a:ext cx="164592" cy="502920"/>
          </a:xfrm>
          <a:prstGeom prst="rect">
            <a:avLst/>
          </a:prstGeom>
          <a:noFill/>
          <a:ln/>
        </p:spPr>
        <p:txBody>
          <a:bodyPr wrap="square" lIns="0" tIns="0" rIns="0" bIns="0" rtlCol="0" anchor="ctr"/>
          <a:lstStyle/>
          <a:p>
            <a:pPr algn="ctr" indent="0" marL="0">
              <a:buNone/>
            </a:pPr>
            <a:r>
              <a:rPr lang="en-US" sz="1400" b="1" dirty="0">
                <a:solidFill>
                  <a:srgbClr val="CFE3E0"/>
                </a:solidFill>
              </a:rPr>
              <a:t>&gt;</a:t>
            </a:r>
            <a:endParaRPr lang="en-US" sz="1400" dirty="0"/>
          </a:p>
        </p:txBody>
      </p:sp>
      <p:sp>
        <p:nvSpPr>
          <p:cNvPr id="13" name="chain-Predictions"/>
          <p:cNvSpPr/>
          <p:nvPr/>
        </p:nvSpPr>
        <p:spPr>
          <a:xfrm>
            <a:off x="4663440" y="2880360"/>
            <a:ext cx="1207008" cy="502920"/>
          </a:xfrm>
          <a:prstGeom prst="roundRect">
            <a:avLst>
              <a:gd name="adj" fmla="val 14545"/>
            </a:avLst>
          </a:prstGeom>
          <a:solidFill>
            <a:srgbClr val="1E5557"/>
          </a:solidFill>
          <a:ln w="12700">
            <a:solidFill>
              <a:srgbClr val="2F7A7C"/>
            </a:solidFill>
            <a:prstDash val="solid"/>
          </a:ln>
        </p:spPr>
      </p:sp>
      <p:sp>
        <p:nvSpPr>
          <p:cNvPr id="14" name="Text 12"/>
          <p:cNvSpPr txBox="1"/>
          <p:nvPr/>
        </p:nvSpPr>
        <p:spPr>
          <a:xfrm>
            <a:off x="4663440" y="2880360"/>
            <a:ext cx="1207008" cy="502920"/>
          </a:xfrm>
          <a:prstGeom prst="rect">
            <a:avLst/>
          </a:prstGeom>
          <a:noFill/>
          <a:ln/>
        </p:spPr>
        <p:txBody>
          <a:bodyPr wrap="square" lIns="0" tIns="0" rIns="0" bIns="0" rtlCol="0" anchor="ctr"/>
          <a:lstStyle/>
          <a:p>
            <a:pPr algn="ctr" indent="0" marL="0">
              <a:buNone/>
            </a:pPr>
            <a:r>
              <a:rPr lang="en-US" sz="1200" b="1" dirty="0">
                <a:solidFill>
                  <a:schemeClr val="bg1"/>
                </a:solidFill>
              </a:rPr>
              <a:t>Predictions</a:t>
            </a:r>
            <a:endParaRPr lang="en-US" sz="1200" dirty="0"/>
          </a:p>
        </p:txBody>
      </p:sp>
      <p:sp>
        <p:nvSpPr>
          <p:cNvPr id="15" name="Text 13"/>
          <p:cNvSpPr txBox="1"/>
          <p:nvPr/>
        </p:nvSpPr>
        <p:spPr>
          <a:xfrm>
            <a:off x="5870448" y="2880360"/>
            <a:ext cx="164592" cy="502920"/>
          </a:xfrm>
          <a:prstGeom prst="rect">
            <a:avLst/>
          </a:prstGeom>
          <a:noFill/>
          <a:ln/>
        </p:spPr>
        <p:txBody>
          <a:bodyPr wrap="square" lIns="0" tIns="0" rIns="0" bIns="0" rtlCol="0" anchor="ctr"/>
          <a:lstStyle/>
          <a:p>
            <a:pPr algn="ctr" indent="0" marL="0">
              <a:buNone/>
            </a:pPr>
            <a:r>
              <a:rPr lang="en-US" sz="1400" b="1" dirty="0">
                <a:solidFill>
                  <a:srgbClr val="CFE3E0"/>
                </a:solidFill>
              </a:rPr>
              <a:t>&gt;</a:t>
            </a:r>
            <a:endParaRPr lang="en-US" sz="1400" dirty="0"/>
          </a:p>
        </p:txBody>
      </p:sp>
      <p:sp>
        <p:nvSpPr>
          <p:cNvPr id="16" name="chain-Scheduler"/>
          <p:cNvSpPr/>
          <p:nvPr/>
        </p:nvSpPr>
        <p:spPr>
          <a:xfrm>
            <a:off x="6035040" y="2880360"/>
            <a:ext cx="1207008" cy="502920"/>
          </a:xfrm>
          <a:prstGeom prst="roundRect">
            <a:avLst>
              <a:gd name="adj" fmla="val 14545"/>
            </a:avLst>
          </a:prstGeom>
          <a:solidFill>
            <a:srgbClr val="1E5557"/>
          </a:solidFill>
          <a:ln w="12700">
            <a:solidFill>
              <a:srgbClr val="2F7A7C"/>
            </a:solidFill>
            <a:prstDash val="solid"/>
          </a:ln>
        </p:spPr>
      </p:sp>
      <p:sp>
        <p:nvSpPr>
          <p:cNvPr id="17" name="Text 15"/>
          <p:cNvSpPr txBox="1"/>
          <p:nvPr/>
        </p:nvSpPr>
        <p:spPr>
          <a:xfrm>
            <a:off x="6035040" y="2880360"/>
            <a:ext cx="1207008" cy="502920"/>
          </a:xfrm>
          <a:prstGeom prst="rect">
            <a:avLst/>
          </a:prstGeom>
          <a:noFill/>
          <a:ln/>
        </p:spPr>
        <p:txBody>
          <a:bodyPr wrap="square" lIns="0" tIns="0" rIns="0" bIns="0" rtlCol="0" anchor="ctr"/>
          <a:lstStyle/>
          <a:p>
            <a:pPr algn="ctr" indent="0" marL="0">
              <a:buNone/>
            </a:pPr>
            <a:r>
              <a:rPr lang="en-US" sz="1200" b="1" dirty="0">
                <a:solidFill>
                  <a:schemeClr val="bg1"/>
                </a:solidFill>
              </a:rPr>
              <a:t>Scheduler</a:t>
            </a:r>
            <a:endParaRPr lang="en-US" sz="1200" dirty="0"/>
          </a:p>
        </p:txBody>
      </p:sp>
      <p:sp>
        <p:nvSpPr>
          <p:cNvPr id="18" name="Text 16"/>
          <p:cNvSpPr txBox="1"/>
          <p:nvPr/>
        </p:nvSpPr>
        <p:spPr>
          <a:xfrm>
            <a:off x="7242048" y="2880360"/>
            <a:ext cx="164592" cy="502920"/>
          </a:xfrm>
          <a:prstGeom prst="rect">
            <a:avLst/>
          </a:prstGeom>
          <a:noFill/>
          <a:ln/>
        </p:spPr>
        <p:txBody>
          <a:bodyPr wrap="square" lIns="0" tIns="0" rIns="0" bIns="0" rtlCol="0" anchor="ctr"/>
          <a:lstStyle/>
          <a:p>
            <a:pPr algn="ctr" indent="0" marL="0">
              <a:buNone/>
            </a:pPr>
            <a:r>
              <a:rPr lang="en-US" sz="1400" b="1" dirty="0">
                <a:solidFill>
                  <a:srgbClr val="CFE3E0"/>
                </a:solidFill>
              </a:rPr>
              <a:t>&gt;</a:t>
            </a:r>
            <a:endParaRPr lang="en-US" sz="1400" dirty="0"/>
          </a:p>
        </p:txBody>
      </p:sp>
      <p:sp>
        <p:nvSpPr>
          <p:cNvPr id="19" name="chain-Proposed workflow"/>
          <p:cNvSpPr/>
          <p:nvPr/>
        </p:nvSpPr>
        <p:spPr>
          <a:xfrm>
            <a:off x="7406640" y="2880360"/>
            <a:ext cx="1207008" cy="502920"/>
          </a:xfrm>
          <a:prstGeom prst="roundRect">
            <a:avLst>
              <a:gd name="adj" fmla="val 14545"/>
            </a:avLst>
          </a:prstGeom>
          <a:solidFill>
            <a:srgbClr val="D97706"/>
          </a:solidFill>
          <a:ln w="12700">
            <a:solidFill>
              <a:srgbClr val="2F7A7C"/>
            </a:solidFill>
            <a:prstDash val="solid"/>
          </a:ln>
        </p:spPr>
      </p:sp>
      <p:sp>
        <p:nvSpPr>
          <p:cNvPr id="20" name="Text 18"/>
          <p:cNvSpPr txBox="1"/>
          <p:nvPr/>
        </p:nvSpPr>
        <p:spPr>
          <a:xfrm>
            <a:off x="7406640" y="2880360"/>
            <a:ext cx="1207008" cy="502920"/>
          </a:xfrm>
          <a:prstGeom prst="rect">
            <a:avLst/>
          </a:prstGeom>
          <a:noFill/>
          <a:ln/>
        </p:spPr>
        <p:txBody>
          <a:bodyPr wrap="square" lIns="0" tIns="0" rIns="0" bIns="0" rtlCol="0" anchor="ctr"/>
          <a:lstStyle/>
          <a:p>
            <a:pPr algn="ctr" indent="0" marL="0">
              <a:buNone/>
            </a:pPr>
            <a:r>
              <a:rPr lang="en-US" sz="1200" b="1" dirty="0">
                <a:solidFill>
                  <a:schemeClr val="bg1"/>
                </a:solidFill>
              </a:rPr>
              <a:t>Proposed workflow</a:t>
            </a:r>
            <a:endParaRPr lang="en-US" sz="1200" dirty="0"/>
          </a:p>
        </p:txBody>
      </p:sp>
      <p:sp>
        <p:nvSpPr>
          <p:cNvPr id="21" name="Text 19"/>
          <p:cNvSpPr txBox="1"/>
          <p:nvPr/>
        </p:nvSpPr>
        <p:spPr>
          <a:xfrm>
            <a:off x="548640" y="3703320"/>
            <a:ext cx="8046720" cy="320040"/>
          </a:xfrm>
          <a:prstGeom prst="rect">
            <a:avLst/>
          </a:prstGeom>
          <a:noFill/>
          <a:ln/>
        </p:spPr>
        <p:txBody>
          <a:bodyPr wrap="square" lIns="0" tIns="0" rIns="0" bIns="0" rtlCol="0" anchor="ctr"/>
          <a:lstStyle/>
          <a:p>
            <a:pPr indent="0" marL="0">
              <a:buNone/>
            </a:pPr>
            <a:r>
              <a:rPr lang="en-US" sz="1600" dirty="0">
                <a:solidFill>
                  <a:schemeClr val="bg1"/>
                </a:solidFill>
              </a:rPr>
              <a:t>Progress review with Prof. Pushpa Lakshmi R, SCOPE</a:t>
            </a:r>
            <a:endParaRPr lang="en-US" sz="1600" dirty="0"/>
          </a:p>
        </p:txBody>
      </p:sp>
      <p:sp>
        <p:nvSpPr>
          <p:cNvPr id="22" name="Text 20"/>
          <p:cNvSpPr txBox="1"/>
          <p:nvPr/>
        </p:nvSpPr>
        <p:spPr>
          <a:xfrm>
            <a:off x="548640" y="4069080"/>
            <a:ext cx="8046720" cy="320040"/>
          </a:xfrm>
          <a:prstGeom prst="rect">
            <a:avLst/>
          </a:prstGeom>
          <a:noFill/>
          <a:ln/>
        </p:spPr>
        <p:txBody>
          <a:bodyPr wrap="square" lIns="0" tIns="0" rIns="0" bIns="0" rtlCol="0" anchor="ctr"/>
          <a:lstStyle/>
          <a:p>
            <a:pPr indent="0" marL="0">
              <a:buNone/>
            </a:pPr>
            <a:r>
              <a:rPr lang="en-US" sz="1300" dirty="0">
                <a:solidFill>
                  <a:srgbClr val="CFE3E0"/>
                </a:solidFill>
              </a:rPr>
              <a:t>Akshat Singh (23BKT0005)   Aditya Choubey (23BCE2274)   BCSE497J, VIT   Friday 16 October 2026</a:t>
            </a:r>
            <a:endParaRPr lang="en-US" sz="1300" dirty="0"/>
          </a:p>
        </p:txBody>
      </p:sp>
      <p:sp>
        <p:nvSpPr>
          <p:cNvPr id="23" name="Text 21"/>
          <p:cNvSpPr txBox="1"/>
          <p:nvPr/>
        </p:nvSpPr>
        <p:spPr>
          <a:xfrm>
            <a:off x="548640" y="4617720"/>
            <a:ext cx="8046720" cy="274320"/>
          </a:xfrm>
          <a:prstGeom prst="rect">
            <a:avLst/>
          </a:prstGeom>
          <a:noFill/>
          <a:ln/>
        </p:spPr>
        <p:txBody>
          <a:bodyPr wrap="square" lIns="0" tIns="0" rIns="0" bIns="0" rtlCol="0" anchor="ctr"/>
          <a:lstStyle/>
          <a:p>
            <a:pPr indent="0" marL="0">
              <a:buNone/>
            </a:pPr>
            <a:r>
              <a:rPr lang="en-US" sz="1100" i="1" dirty="0">
                <a:solidFill>
                  <a:srgbClr val="9FC3BF"/>
                </a:solidFill>
              </a:rPr>
              <a:t>Every figure is labelled ESTIMATED or MEASURED; interim figures are as of 14 October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rPr>
              <a:t>Where the project stands</a:t>
            </a:r>
            <a:endParaRPr lang="en-US" sz="3000" dirty="0"/>
          </a:p>
        </p:txBody>
      </p:sp>
      <p:sp>
        <p:nvSpPr>
          <p:cNvPr id="4" name="takeaway"/>
          <p:cNvSpPr txBox="1"/>
          <p:nvPr/>
        </p:nvSpPr>
        <p:spPr>
          <a:xfrm>
            <a:off x="457200" y="914400"/>
            <a:ext cx="8229600" cy="365760"/>
          </a:xfrm>
          <a:prstGeom prst="rect">
            <a:avLst/>
          </a:prstGeom>
          <a:noFill/>
          <a:ln/>
        </p:spPr>
        <p:txBody>
          <a:bodyPr wrap="square" lIns="0" tIns="0" rIns="0" bIns="0" rtlCol="0" anchor="ctr"/>
          <a:lstStyle/>
          <a:p>
            <a:pPr indent="0" marL="0">
              <a:buNone/>
            </a:pPr>
            <a:r>
              <a:rPr lang="en-US" sz="1600" i="1" dirty="0">
                <a:solidFill>
                  <a:schemeClr val="accent1"/>
                </a:solidFill>
              </a:rPr>
              <a:t>A working system, and an honest evaluation that is mostly negative on speed</a:t>
            </a:r>
            <a:endParaRPr lang="en-US" sz="1600" dirty="0"/>
          </a:p>
        </p:txBody>
      </p:sp>
      <p:sp>
        <p:nvSpPr>
          <p:cNvPr id="5" name="finding-card"/>
          <p:cNvSpPr/>
          <p:nvPr/>
        </p:nvSpPr>
        <p:spPr>
          <a:xfrm>
            <a:off x="457200" y="1463040"/>
            <a:ext cx="4023360" cy="1417320"/>
          </a:xfrm>
          <a:prstGeom prst="roundRect">
            <a:avLst>
              <a:gd name="adj" fmla="val 5161"/>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6" name="finding-number"/>
          <p:cNvSpPr/>
          <p:nvPr/>
        </p:nvSpPr>
        <p:spPr>
          <a:xfrm>
            <a:off x="640080" y="1645920"/>
            <a:ext cx="457200" cy="457200"/>
          </a:xfrm>
          <a:prstGeom prst="ellipse">
            <a:avLst/>
          </a:prstGeom>
          <a:solidFill>
            <a:schemeClr val="accent1"/>
          </a:solidFill>
          <a:ln w="12700">
            <a:solidFill>
              <a:schemeClr val="accent1"/>
            </a:solidFill>
            <a:prstDash val="solid"/>
          </a:ln>
        </p:spPr>
      </p:sp>
      <p:sp>
        <p:nvSpPr>
          <p:cNvPr id="7" name="Text 4"/>
          <p:cNvSpPr txBox="1"/>
          <p:nvPr/>
        </p:nvSpPr>
        <p:spPr>
          <a:xfrm>
            <a:off x="640080" y="16459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8" name="Text 5"/>
          <p:cNvSpPr txBox="1"/>
          <p:nvPr/>
        </p:nvSpPr>
        <p:spPr>
          <a:xfrm>
            <a:off x="1234440" y="1600200"/>
            <a:ext cx="3108960" cy="594360"/>
          </a:xfrm>
          <a:prstGeom prst="rect">
            <a:avLst/>
          </a:prstGeom>
          <a:noFill/>
          <a:ln/>
        </p:spPr>
        <p:txBody>
          <a:bodyPr wrap="square" lIns="0" tIns="0" rIns="0" bIns="0" rtlCol="0" anchor="ctr"/>
          <a:lstStyle/>
          <a:p>
            <a:pPr indent="0" marL="0">
              <a:buNone/>
            </a:pPr>
            <a:r>
              <a:rPr lang="en-US" sz="1500" b="1" dirty="0">
                <a:solidFill>
                  <a:schemeClr val="tx1"/>
                </a:solidFill>
              </a:rPr>
              <a:t>Models beat a naive guess only in some repositories</a:t>
            </a:r>
            <a:endParaRPr lang="en-US" sz="1500" dirty="0"/>
          </a:p>
        </p:txBody>
      </p:sp>
      <p:sp>
        <p:nvSpPr>
          <p:cNvPr id="9" name="Text 6"/>
          <p:cNvSpPr txBox="1"/>
          <p:nvPr/>
        </p:nvSpPr>
        <p:spPr>
          <a:xfrm>
            <a:off x="640080" y="2240280"/>
            <a:ext cx="3657600" cy="566928"/>
          </a:xfrm>
          <a:prstGeom prst="rect">
            <a:avLst/>
          </a:prstGeom>
          <a:noFill/>
          <a:ln/>
        </p:spPr>
        <p:txBody>
          <a:bodyPr wrap="square" lIns="0" tIns="0" rIns="0" bIns="0" rtlCol="0" anchor="t"/>
          <a:lstStyle/>
          <a:p>
            <a:pPr indent="0" marL="0">
              <a:buNone/>
            </a:pPr>
            <a:r>
              <a:rPr lang="en-US" sz="1300" dirty="0">
                <a:solidFill>
                  <a:schemeClr val="accent6"/>
                </a:solidFill>
              </a:rPr>
              <a:t>Significant gain in fastapi and pydantic; never significantly worse elsewhere</a:t>
            </a:r>
            <a:endParaRPr lang="en-US" sz="1300" dirty="0"/>
          </a:p>
        </p:txBody>
      </p:sp>
      <p:sp>
        <p:nvSpPr>
          <p:cNvPr id="10" name="finding-card"/>
          <p:cNvSpPr/>
          <p:nvPr/>
        </p:nvSpPr>
        <p:spPr>
          <a:xfrm>
            <a:off x="4663440" y="1463040"/>
            <a:ext cx="4023360" cy="1417320"/>
          </a:xfrm>
          <a:prstGeom prst="roundRect">
            <a:avLst>
              <a:gd name="adj" fmla="val 5161"/>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1" name="finding-number"/>
          <p:cNvSpPr/>
          <p:nvPr/>
        </p:nvSpPr>
        <p:spPr>
          <a:xfrm>
            <a:off x="4846320" y="1645920"/>
            <a:ext cx="457200" cy="457200"/>
          </a:xfrm>
          <a:prstGeom prst="ellipse">
            <a:avLst/>
          </a:prstGeom>
          <a:solidFill>
            <a:schemeClr val="accent1"/>
          </a:solidFill>
          <a:ln w="12700">
            <a:solidFill>
              <a:schemeClr val="accent1"/>
            </a:solidFill>
            <a:prstDash val="solid"/>
          </a:ln>
        </p:spPr>
      </p:sp>
      <p:sp>
        <p:nvSpPr>
          <p:cNvPr id="12" name="Text 9"/>
          <p:cNvSpPr txBox="1"/>
          <p:nvPr/>
        </p:nvSpPr>
        <p:spPr>
          <a:xfrm>
            <a:off x="4846320" y="16459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3" name="Text 10"/>
          <p:cNvSpPr txBox="1"/>
          <p:nvPr/>
        </p:nvSpPr>
        <p:spPr>
          <a:xfrm>
            <a:off x="5440680" y="1600200"/>
            <a:ext cx="3108960" cy="594360"/>
          </a:xfrm>
          <a:prstGeom prst="rect">
            <a:avLst/>
          </a:prstGeom>
          <a:noFill/>
          <a:ln/>
        </p:spPr>
        <p:txBody>
          <a:bodyPr wrap="square" lIns="0" tIns="0" rIns="0" bIns="0" rtlCol="0" anchor="ctr"/>
          <a:lstStyle/>
          <a:p>
            <a:pPr indent="0" marL="0">
              <a:buNone/>
            </a:pPr>
            <a:r>
              <a:rPr lang="en-US" sz="1500" b="1" dirty="0">
                <a:solidFill>
                  <a:schemeClr val="tx1"/>
                </a:solidFill>
              </a:rPr>
              <a:t>Our improved model missed the bar we set in advance</a:t>
            </a:r>
            <a:endParaRPr lang="en-US" sz="1500" dirty="0"/>
          </a:p>
        </p:txBody>
      </p:sp>
      <p:sp>
        <p:nvSpPr>
          <p:cNvPr id="14" name="Text 11"/>
          <p:cNvSpPr txBox="1"/>
          <p:nvPr/>
        </p:nvSpPr>
        <p:spPr>
          <a:xfrm>
            <a:off x="4846320" y="2240280"/>
            <a:ext cx="3657600" cy="566928"/>
          </a:xfrm>
          <a:prstGeom prst="rect">
            <a:avLst/>
          </a:prstGeom>
          <a:noFill/>
          <a:ln/>
        </p:spPr>
        <p:txBody>
          <a:bodyPr wrap="square" lIns="0" tIns="0" rIns="0" bIns="0" rtlCol="0" anchor="t"/>
          <a:lstStyle/>
          <a:p>
            <a:pPr indent="0" marL="0">
              <a:buNone/>
            </a:pPr>
            <a:r>
              <a:rPr lang="en-US" sz="1300" dirty="0">
                <a:solidFill>
                  <a:schemeClr val="accent6"/>
                </a:solidFill>
              </a:rPr>
              <a:t>2 of 9 repositories beaten; the pre-registered bar was 3</a:t>
            </a:r>
            <a:endParaRPr lang="en-US" sz="1300" dirty="0"/>
          </a:p>
        </p:txBody>
      </p:sp>
      <p:sp>
        <p:nvSpPr>
          <p:cNvPr id="15" name="finding-card"/>
          <p:cNvSpPr/>
          <p:nvPr/>
        </p:nvSpPr>
        <p:spPr>
          <a:xfrm>
            <a:off x="457200" y="3063240"/>
            <a:ext cx="4023360" cy="1417320"/>
          </a:xfrm>
          <a:prstGeom prst="roundRect">
            <a:avLst>
              <a:gd name="adj" fmla="val 5161"/>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6" name="finding-number"/>
          <p:cNvSpPr/>
          <p:nvPr/>
        </p:nvSpPr>
        <p:spPr>
          <a:xfrm>
            <a:off x="640080" y="3246120"/>
            <a:ext cx="457200" cy="457200"/>
          </a:xfrm>
          <a:prstGeom prst="ellipse">
            <a:avLst/>
          </a:prstGeom>
          <a:solidFill>
            <a:schemeClr val="accent1"/>
          </a:solidFill>
          <a:ln w="12700">
            <a:solidFill>
              <a:schemeClr val="accent1"/>
            </a:solidFill>
            <a:prstDash val="solid"/>
          </a:ln>
        </p:spPr>
      </p:sp>
      <p:sp>
        <p:nvSpPr>
          <p:cNvPr id="17" name="Text 14"/>
          <p:cNvSpPr txBox="1"/>
          <p:nvPr/>
        </p:nvSpPr>
        <p:spPr>
          <a:xfrm>
            <a:off x="640080" y="32461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8" name="Text 15"/>
          <p:cNvSpPr txBox="1"/>
          <p:nvPr/>
        </p:nvSpPr>
        <p:spPr>
          <a:xfrm>
            <a:off x="1234440" y="3200400"/>
            <a:ext cx="3108960" cy="594360"/>
          </a:xfrm>
          <a:prstGeom prst="rect">
            <a:avLst/>
          </a:prstGeom>
          <a:noFill/>
          <a:ln/>
        </p:spPr>
        <p:txBody>
          <a:bodyPr wrap="square" lIns="0" tIns="0" rIns="0" bIns="0" rtlCol="0" anchor="ctr"/>
          <a:lstStyle/>
          <a:p>
            <a:pPr indent="0" marL="0">
              <a:buNone/>
            </a:pPr>
            <a:r>
              <a:rPr lang="en-US" sz="1500" b="1" dirty="0">
                <a:solidFill>
                  <a:schemeClr val="tx1"/>
                </a:solidFill>
              </a:rPr>
              <a:t>Scheduling is not faster by default</a:t>
            </a:r>
            <a:endParaRPr lang="en-US" sz="1500" dirty="0"/>
          </a:p>
        </p:txBody>
      </p:sp>
      <p:sp>
        <p:nvSpPr>
          <p:cNvPr id="19" name="Text 16"/>
          <p:cNvSpPr txBox="1"/>
          <p:nvPr/>
        </p:nvSpPr>
        <p:spPr>
          <a:xfrm>
            <a:off x="640080" y="3840480"/>
            <a:ext cx="3657600" cy="566928"/>
          </a:xfrm>
          <a:prstGeom prst="rect">
            <a:avLst/>
          </a:prstGeom>
          <a:noFill/>
          <a:ln/>
        </p:spPr>
        <p:txBody>
          <a:bodyPr wrap="square" lIns="0" tIns="0" rIns="0" bIns="0" rtlCol="0" anchor="t"/>
          <a:lstStyle/>
          <a:p>
            <a:pPr indent="0" marL="0">
              <a:buNone/>
            </a:pPr>
            <a:r>
              <a:rPr lang="en-US" sz="1300" dirty="0">
                <a:solidFill>
                  <a:schemeClr val="accent6"/>
                </a:solidFill>
              </a:rPr>
              <a:t>0% estimated; a measured -15% critical path on one simple pipeline</a:t>
            </a:r>
            <a:endParaRPr lang="en-US" sz="1300" dirty="0"/>
          </a:p>
        </p:txBody>
      </p:sp>
      <p:sp>
        <p:nvSpPr>
          <p:cNvPr id="20" name="finding-card"/>
          <p:cNvSpPr/>
          <p:nvPr/>
        </p:nvSpPr>
        <p:spPr>
          <a:xfrm>
            <a:off x="4663440" y="3063240"/>
            <a:ext cx="4023360" cy="1417320"/>
          </a:xfrm>
          <a:prstGeom prst="roundRect">
            <a:avLst>
              <a:gd name="adj" fmla="val 5161"/>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1" name="finding-number"/>
          <p:cNvSpPr/>
          <p:nvPr/>
        </p:nvSpPr>
        <p:spPr>
          <a:xfrm>
            <a:off x="4846320" y="3246120"/>
            <a:ext cx="457200" cy="457200"/>
          </a:xfrm>
          <a:prstGeom prst="ellipse">
            <a:avLst/>
          </a:prstGeom>
          <a:solidFill>
            <a:schemeClr val="accent1"/>
          </a:solidFill>
          <a:ln w="12700">
            <a:solidFill>
              <a:schemeClr val="accent1"/>
            </a:solidFill>
            <a:prstDash val="solid"/>
          </a:ln>
        </p:spPr>
      </p:sp>
      <p:sp>
        <p:nvSpPr>
          <p:cNvPr id="22" name="Text 19"/>
          <p:cNvSpPr txBox="1"/>
          <p:nvPr/>
        </p:nvSpPr>
        <p:spPr>
          <a:xfrm>
            <a:off x="4846320" y="32461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3" name="Text 20"/>
          <p:cNvSpPr txBox="1"/>
          <p:nvPr/>
        </p:nvSpPr>
        <p:spPr>
          <a:xfrm>
            <a:off x="5440680" y="3200400"/>
            <a:ext cx="3108960" cy="594360"/>
          </a:xfrm>
          <a:prstGeom prst="rect">
            <a:avLst/>
          </a:prstGeom>
          <a:noFill/>
          <a:ln/>
        </p:spPr>
        <p:txBody>
          <a:bodyPr wrap="square" lIns="0" tIns="0" rIns="0" bIns="0" rtlCol="0" anchor="ctr"/>
          <a:lstStyle/>
          <a:p>
            <a:pPr indent="0" marL="0">
              <a:buNone/>
            </a:pPr>
            <a:r>
              <a:rPr lang="en-US" sz="1500" b="1" dirty="0">
                <a:solidFill>
                  <a:schemeClr val="tx1"/>
                </a:solidFill>
              </a:rPr>
              <a:t>Real failures follow patterns</a:t>
            </a:r>
            <a:endParaRPr lang="en-US" sz="1500" dirty="0"/>
          </a:p>
        </p:txBody>
      </p:sp>
      <p:sp>
        <p:nvSpPr>
          <p:cNvPr id="24" name="Text 21"/>
          <p:cNvSpPr txBox="1"/>
          <p:nvPr/>
        </p:nvSpPr>
        <p:spPr>
          <a:xfrm>
            <a:off x="4846320" y="3840480"/>
            <a:ext cx="3657600" cy="566928"/>
          </a:xfrm>
          <a:prstGeom prst="rect">
            <a:avLst/>
          </a:prstGeom>
          <a:noFill/>
          <a:ln/>
        </p:spPr>
        <p:txBody>
          <a:bodyPr wrap="square" lIns="0" tIns="0" rIns="0" bIns="0" rtlCol="0" anchor="t"/>
          <a:lstStyle/>
          <a:p>
            <a:pPr indent="0" marL="0">
              <a:buNone/>
            </a:pPr>
            <a:r>
              <a:rPr lang="en-US" sz="1300" dirty="0">
                <a:solidFill>
                  <a:schemeClr val="accent6"/>
                </a:solidFill>
              </a:rPr>
              <a:t>About half of failed jobs in poetry and fastapi are repeat alerts, not new problems</a:t>
            </a:r>
            <a:endParaRPr lang="en-US" sz="13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rPr>
              <a:t>How the system works</a:t>
            </a:r>
            <a:endParaRPr lang="en-US" sz="3000" dirty="0"/>
          </a:p>
        </p:txBody>
      </p:sp>
      <p:sp>
        <p:nvSpPr>
          <p:cNvPr id="4" name="takeaway"/>
          <p:cNvSpPr txBox="1"/>
          <p:nvPr/>
        </p:nvSpPr>
        <p:spPr>
          <a:xfrm>
            <a:off x="457200" y="914400"/>
            <a:ext cx="8229600" cy="365760"/>
          </a:xfrm>
          <a:prstGeom prst="rect">
            <a:avLst/>
          </a:prstGeom>
          <a:noFill/>
          <a:ln/>
        </p:spPr>
        <p:txBody>
          <a:bodyPr wrap="square" lIns="0" tIns="0" rIns="0" bIns="0" rtlCol="0" anchor="ctr"/>
          <a:lstStyle/>
          <a:p>
            <a:pPr indent="0" marL="0">
              <a:buNone/>
            </a:pPr>
            <a:r>
              <a:rPr lang="en-US" sz="1600" i="1" dirty="0">
                <a:solidFill>
                  <a:schemeClr val="accent1"/>
                </a:solidFill>
              </a:rPr>
              <a:t>From repository to a reviewable proposal, with real data only</a:t>
            </a:r>
            <a:endParaRPr lang="en-US" sz="1600" dirty="0"/>
          </a:p>
        </p:txBody>
      </p:sp>
      <p:sp>
        <p:nvSpPr>
          <p:cNvPr id="5" name="stage-Ingest"/>
          <p:cNvSpPr/>
          <p:nvPr/>
        </p:nvSpPr>
        <p:spPr>
          <a:xfrm>
            <a:off x="457200" y="1508760"/>
            <a:ext cx="1261872" cy="1417320"/>
          </a:xfrm>
          <a:prstGeom prst="roundRect">
            <a:avLst>
              <a:gd name="adj" fmla="val 5797"/>
            </a:avLst>
          </a:prstGeom>
          <a:solidFill>
            <a:schemeClr val="accent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6" name="Text 3"/>
          <p:cNvSpPr txBox="1"/>
          <p:nvPr/>
        </p:nvSpPr>
        <p:spPr>
          <a:xfrm>
            <a:off x="457200" y="1600200"/>
            <a:ext cx="1261872" cy="411480"/>
          </a:xfrm>
          <a:prstGeom prst="rect">
            <a:avLst/>
          </a:prstGeom>
          <a:noFill/>
          <a:ln/>
        </p:spPr>
        <p:txBody>
          <a:bodyPr wrap="square" lIns="0" tIns="0" rIns="0" bIns="0" rtlCol="0" anchor="ctr"/>
          <a:lstStyle/>
          <a:p>
            <a:pPr algn="ctr" indent="0" marL="0">
              <a:buNone/>
            </a:pPr>
            <a:r>
              <a:rPr lang="en-US" sz="1500" b="1" dirty="0">
                <a:solidFill>
                  <a:schemeClr val="bg1"/>
                </a:solidFill>
              </a:rPr>
              <a:t>Ingest</a:t>
            </a:r>
            <a:endParaRPr lang="en-US" sz="1500" dirty="0"/>
          </a:p>
        </p:txBody>
      </p:sp>
      <p:sp>
        <p:nvSpPr>
          <p:cNvPr id="7" name="Text 4"/>
          <p:cNvSpPr txBox="1"/>
          <p:nvPr/>
        </p:nvSpPr>
        <p:spPr>
          <a:xfrm>
            <a:off x="530352" y="2011680"/>
            <a:ext cx="1115568" cy="868680"/>
          </a:xfrm>
          <a:prstGeom prst="rect">
            <a:avLst/>
          </a:prstGeom>
          <a:noFill/>
          <a:ln/>
        </p:spPr>
        <p:txBody>
          <a:bodyPr wrap="square" lIns="0" tIns="0" rIns="0" bIns="0" rtlCol="0" anchor="t"/>
          <a:lstStyle/>
          <a:p>
            <a:pPr algn="ctr" indent="0" marL="0">
              <a:buNone/>
            </a:pPr>
            <a:r>
              <a:rPr lang="en-US" sz="1200" dirty="0">
                <a:solidFill>
                  <a:schemeClr val="bg1"/>
                </a:solidFill>
              </a:rPr>
              <a:t>runs, jobs, logs, diffs from GitHub</a:t>
            </a:r>
            <a:endParaRPr lang="en-US" sz="1200" dirty="0"/>
          </a:p>
        </p:txBody>
      </p:sp>
      <p:sp>
        <p:nvSpPr>
          <p:cNvPr id="8" name="stage-Graph"/>
          <p:cNvSpPr/>
          <p:nvPr/>
        </p:nvSpPr>
        <p:spPr>
          <a:xfrm>
            <a:off x="1828800" y="1508760"/>
            <a:ext cx="1261872" cy="1417320"/>
          </a:xfrm>
          <a:prstGeom prst="roundRect">
            <a:avLst>
              <a:gd name="adj" fmla="val 5797"/>
            </a:avLst>
          </a:prstGeom>
          <a:solidFill>
            <a:schemeClr val="accent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9" name="Text 6"/>
          <p:cNvSpPr txBox="1"/>
          <p:nvPr/>
        </p:nvSpPr>
        <p:spPr>
          <a:xfrm>
            <a:off x="1828800" y="1600200"/>
            <a:ext cx="1261872" cy="411480"/>
          </a:xfrm>
          <a:prstGeom prst="rect">
            <a:avLst/>
          </a:prstGeom>
          <a:noFill/>
          <a:ln/>
        </p:spPr>
        <p:txBody>
          <a:bodyPr wrap="square" lIns="0" tIns="0" rIns="0" bIns="0" rtlCol="0" anchor="ctr"/>
          <a:lstStyle/>
          <a:p>
            <a:pPr algn="ctr" indent="0" marL="0">
              <a:buNone/>
            </a:pPr>
            <a:r>
              <a:rPr lang="en-US" sz="1500" b="1" dirty="0">
                <a:solidFill>
                  <a:schemeClr val="bg1"/>
                </a:solidFill>
              </a:rPr>
              <a:t>Graph</a:t>
            </a:r>
            <a:endParaRPr lang="en-US" sz="1500" dirty="0"/>
          </a:p>
        </p:txBody>
      </p:sp>
      <p:sp>
        <p:nvSpPr>
          <p:cNvPr id="10" name="Text 7"/>
          <p:cNvSpPr txBox="1"/>
          <p:nvPr/>
        </p:nvSpPr>
        <p:spPr>
          <a:xfrm>
            <a:off x="1901952" y="2011680"/>
            <a:ext cx="1115568" cy="868680"/>
          </a:xfrm>
          <a:prstGeom prst="rect">
            <a:avLst/>
          </a:prstGeom>
          <a:noFill/>
          <a:ln/>
        </p:spPr>
        <p:txBody>
          <a:bodyPr wrap="square" lIns="0" tIns="0" rIns="0" bIns="0" rtlCol="0" anchor="t"/>
          <a:lstStyle/>
          <a:p>
            <a:pPr algn="ctr" indent="0" marL="0">
              <a:buNone/>
            </a:pPr>
            <a:r>
              <a:rPr lang="en-US" sz="1200" dirty="0">
                <a:solidFill>
                  <a:schemeClr val="bg1"/>
                </a:solidFill>
              </a:rPr>
              <a:t>files, jobs, steps, cache keys, needs</a:t>
            </a:r>
            <a:endParaRPr lang="en-US" sz="1200" dirty="0"/>
          </a:p>
        </p:txBody>
      </p:sp>
      <p:sp>
        <p:nvSpPr>
          <p:cNvPr id="11" name="stage-Features"/>
          <p:cNvSpPr/>
          <p:nvPr/>
        </p:nvSpPr>
        <p:spPr>
          <a:xfrm>
            <a:off x="3200400" y="1508760"/>
            <a:ext cx="1261872" cy="1417320"/>
          </a:xfrm>
          <a:prstGeom prst="roundRect">
            <a:avLst>
              <a:gd name="adj" fmla="val 5797"/>
            </a:avLst>
          </a:prstGeom>
          <a:solidFill>
            <a:schemeClr val="accent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12" name="Text 9"/>
          <p:cNvSpPr txBox="1"/>
          <p:nvPr/>
        </p:nvSpPr>
        <p:spPr>
          <a:xfrm>
            <a:off x="3200400" y="1600200"/>
            <a:ext cx="1261872" cy="411480"/>
          </a:xfrm>
          <a:prstGeom prst="rect">
            <a:avLst/>
          </a:prstGeom>
          <a:noFill/>
          <a:ln/>
        </p:spPr>
        <p:txBody>
          <a:bodyPr wrap="square" lIns="0" tIns="0" rIns="0" bIns="0" rtlCol="0" anchor="ctr"/>
          <a:lstStyle/>
          <a:p>
            <a:pPr algn="ctr" indent="0" marL="0">
              <a:buNone/>
            </a:pPr>
            <a:r>
              <a:rPr lang="en-US" sz="1500" b="1" dirty="0">
                <a:solidFill>
                  <a:schemeClr val="bg1"/>
                </a:solidFill>
              </a:rPr>
              <a:t>Features</a:t>
            </a:r>
            <a:endParaRPr lang="en-US" sz="1500" dirty="0"/>
          </a:p>
        </p:txBody>
      </p:sp>
      <p:sp>
        <p:nvSpPr>
          <p:cNvPr id="13" name="Text 10"/>
          <p:cNvSpPr txBox="1"/>
          <p:nvPr/>
        </p:nvSpPr>
        <p:spPr>
          <a:xfrm>
            <a:off x="3273552" y="2011680"/>
            <a:ext cx="1115568" cy="868680"/>
          </a:xfrm>
          <a:prstGeom prst="rect">
            <a:avLst/>
          </a:prstGeom>
          <a:noFill/>
          <a:ln/>
        </p:spPr>
        <p:txBody>
          <a:bodyPr wrap="square" lIns="0" tIns="0" rIns="0" bIns="0" rtlCol="0" anchor="t"/>
          <a:lstStyle/>
          <a:p>
            <a:pPr algn="ctr" indent="0" marL="0">
              <a:buNone/>
            </a:pPr>
            <a:r>
              <a:rPr lang="en-US" sz="1200" dirty="0">
                <a:solidFill>
                  <a:schemeClr val="bg1"/>
                </a:solidFill>
              </a:rPr>
              <a:t>diff reach, history, change type</a:t>
            </a:r>
            <a:endParaRPr lang="en-US" sz="1200" dirty="0"/>
          </a:p>
        </p:txBody>
      </p:sp>
      <p:sp>
        <p:nvSpPr>
          <p:cNvPr id="14" name="stage-Models"/>
          <p:cNvSpPr/>
          <p:nvPr/>
        </p:nvSpPr>
        <p:spPr>
          <a:xfrm>
            <a:off x="4572000" y="1508760"/>
            <a:ext cx="1261872" cy="1417320"/>
          </a:xfrm>
          <a:prstGeom prst="roundRect">
            <a:avLst>
              <a:gd name="adj" fmla="val 5797"/>
            </a:avLst>
          </a:prstGeom>
          <a:solidFill>
            <a:schemeClr val="accent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15" name="Text 12"/>
          <p:cNvSpPr txBox="1"/>
          <p:nvPr/>
        </p:nvSpPr>
        <p:spPr>
          <a:xfrm>
            <a:off x="4572000" y="1600200"/>
            <a:ext cx="1261872" cy="411480"/>
          </a:xfrm>
          <a:prstGeom prst="rect">
            <a:avLst/>
          </a:prstGeom>
          <a:noFill/>
          <a:ln/>
        </p:spPr>
        <p:txBody>
          <a:bodyPr wrap="square" lIns="0" tIns="0" rIns="0" bIns="0" rtlCol="0" anchor="ctr"/>
          <a:lstStyle/>
          <a:p>
            <a:pPr algn="ctr" indent="0" marL="0">
              <a:buNone/>
            </a:pPr>
            <a:r>
              <a:rPr lang="en-US" sz="1500" b="1" dirty="0">
                <a:solidFill>
                  <a:schemeClr val="bg1"/>
                </a:solidFill>
              </a:rPr>
              <a:t>Models</a:t>
            </a:r>
            <a:endParaRPr lang="en-US" sz="1500" dirty="0"/>
          </a:p>
        </p:txBody>
      </p:sp>
      <p:sp>
        <p:nvSpPr>
          <p:cNvPr id="16" name="Text 13"/>
          <p:cNvSpPr txBox="1"/>
          <p:nvPr/>
        </p:nvSpPr>
        <p:spPr>
          <a:xfrm>
            <a:off x="4645152" y="2011680"/>
            <a:ext cx="1115568" cy="868680"/>
          </a:xfrm>
          <a:prstGeom prst="rect">
            <a:avLst/>
          </a:prstGeom>
          <a:noFill/>
          <a:ln/>
        </p:spPr>
        <p:txBody>
          <a:bodyPr wrap="square" lIns="0" tIns="0" rIns="0" bIns="0" rtlCol="0" anchor="t"/>
          <a:lstStyle/>
          <a:p>
            <a:pPr algn="ctr" indent="0" marL="0">
              <a:buNone/>
            </a:pPr>
            <a:r>
              <a:rPr lang="en-US" sz="1200" dirty="0">
                <a:solidFill>
                  <a:schemeClr val="bg1"/>
                </a:solidFill>
              </a:rPr>
              <a:t>failure, duration, cache miss</a:t>
            </a:r>
            <a:endParaRPr lang="en-US" sz="1200" dirty="0"/>
          </a:p>
        </p:txBody>
      </p:sp>
      <p:sp>
        <p:nvSpPr>
          <p:cNvPr id="17" name="stage-Scheduler"/>
          <p:cNvSpPr/>
          <p:nvPr/>
        </p:nvSpPr>
        <p:spPr>
          <a:xfrm>
            <a:off x="5943600" y="1508760"/>
            <a:ext cx="1261872" cy="1417320"/>
          </a:xfrm>
          <a:prstGeom prst="roundRect">
            <a:avLst>
              <a:gd name="adj" fmla="val 5797"/>
            </a:avLst>
          </a:prstGeom>
          <a:solidFill>
            <a:schemeClr val="accent1"/>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18" name="Text 15"/>
          <p:cNvSpPr txBox="1"/>
          <p:nvPr/>
        </p:nvSpPr>
        <p:spPr>
          <a:xfrm>
            <a:off x="5943600" y="1600200"/>
            <a:ext cx="1261872" cy="411480"/>
          </a:xfrm>
          <a:prstGeom prst="rect">
            <a:avLst/>
          </a:prstGeom>
          <a:noFill/>
          <a:ln/>
        </p:spPr>
        <p:txBody>
          <a:bodyPr wrap="square" lIns="0" tIns="0" rIns="0" bIns="0" rtlCol="0" anchor="ctr"/>
          <a:lstStyle/>
          <a:p>
            <a:pPr algn="ctr" indent="0" marL="0">
              <a:buNone/>
            </a:pPr>
            <a:r>
              <a:rPr lang="en-US" sz="1500" b="1" dirty="0">
                <a:solidFill>
                  <a:schemeClr val="bg1"/>
                </a:solidFill>
              </a:rPr>
              <a:t>Scheduler</a:t>
            </a:r>
            <a:endParaRPr lang="en-US" sz="1500" dirty="0"/>
          </a:p>
        </p:txBody>
      </p:sp>
      <p:sp>
        <p:nvSpPr>
          <p:cNvPr id="19" name="Text 16"/>
          <p:cNvSpPr txBox="1"/>
          <p:nvPr/>
        </p:nvSpPr>
        <p:spPr>
          <a:xfrm>
            <a:off x="6016752" y="2011680"/>
            <a:ext cx="1115568" cy="868680"/>
          </a:xfrm>
          <a:prstGeom prst="rect">
            <a:avLst/>
          </a:prstGeom>
          <a:noFill/>
          <a:ln/>
        </p:spPr>
        <p:txBody>
          <a:bodyPr wrap="square" lIns="0" tIns="0" rIns="0" bIns="0" rtlCol="0" anchor="t"/>
          <a:lstStyle/>
          <a:p>
            <a:pPr algn="ctr" indent="0" marL="0">
              <a:buNone/>
            </a:pPr>
            <a:r>
              <a:rPr lang="en-US" sz="1200" dirty="0">
                <a:solidFill>
                  <a:schemeClr val="bg1"/>
                </a:solidFill>
              </a:rPr>
              <a:t>needs-safe, fail-fast order</a:t>
            </a:r>
            <a:endParaRPr lang="en-US" sz="1200" dirty="0"/>
          </a:p>
        </p:txBody>
      </p:sp>
      <p:sp>
        <p:nvSpPr>
          <p:cNvPr id="20" name="stage-Proposal"/>
          <p:cNvSpPr/>
          <p:nvPr/>
        </p:nvSpPr>
        <p:spPr>
          <a:xfrm>
            <a:off x="7315200" y="1508760"/>
            <a:ext cx="1261872" cy="1417320"/>
          </a:xfrm>
          <a:prstGeom prst="roundRect">
            <a:avLst>
              <a:gd name="adj" fmla="val 5797"/>
            </a:avLst>
          </a:prstGeom>
          <a:solidFill>
            <a:schemeClr val="accent2"/>
          </a:solidFill>
          <a:ln w="12700">
            <a:solidFill>
              <a:schemeClr val="bg1"/>
            </a:solidFill>
            <a:prstDash val="solid"/>
          </a:ln>
          <a:effectLst>
            <a:outerShdw sx="100000" sy="100000" kx="0" ky="0" algn="bl" rotWithShape="0" blurRad="76200" dist="25400" dir="5400000">
              <a:srgbClr val="000000">
                <a:alpha val="12000"/>
              </a:srgbClr>
            </a:outerShdw>
          </a:effectLst>
        </p:spPr>
      </p:sp>
      <p:sp>
        <p:nvSpPr>
          <p:cNvPr id="21" name="Text 18"/>
          <p:cNvSpPr txBox="1"/>
          <p:nvPr/>
        </p:nvSpPr>
        <p:spPr>
          <a:xfrm>
            <a:off x="7315200" y="1600200"/>
            <a:ext cx="1261872" cy="411480"/>
          </a:xfrm>
          <a:prstGeom prst="rect">
            <a:avLst/>
          </a:prstGeom>
          <a:noFill/>
          <a:ln/>
        </p:spPr>
        <p:txBody>
          <a:bodyPr wrap="square" lIns="0" tIns="0" rIns="0" bIns="0" rtlCol="0" anchor="ctr"/>
          <a:lstStyle/>
          <a:p>
            <a:pPr algn="ctr" indent="0" marL="0">
              <a:buNone/>
            </a:pPr>
            <a:r>
              <a:rPr lang="en-US" sz="1500" b="1" dirty="0">
                <a:solidFill>
                  <a:schemeClr val="bg1"/>
                </a:solidFill>
              </a:rPr>
              <a:t>Proposal</a:t>
            </a:r>
            <a:endParaRPr lang="en-US" sz="1500" dirty="0"/>
          </a:p>
        </p:txBody>
      </p:sp>
      <p:sp>
        <p:nvSpPr>
          <p:cNvPr id="22" name="Text 19"/>
          <p:cNvSpPr txBox="1"/>
          <p:nvPr/>
        </p:nvSpPr>
        <p:spPr>
          <a:xfrm>
            <a:off x="7388352" y="2011680"/>
            <a:ext cx="1115568" cy="868680"/>
          </a:xfrm>
          <a:prstGeom prst="rect">
            <a:avLst/>
          </a:prstGeom>
          <a:noFill/>
          <a:ln/>
        </p:spPr>
        <p:txBody>
          <a:bodyPr wrap="square" lIns="0" tIns="0" rIns="0" bIns="0" rtlCol="0" anchor="t"/>
          <a:lstStyle/>
          <a:p>
            <a:pPr algn="ctr" indent="0" marL="0">
              <a:buNone/>
            </a:pPr>
            <a:r>
              <a:rPr lang="en-US" sz="1200" dirty="0">
                <a:solidFill>
                  <a:schemeClr val="bg1"/>
                </a:solidFill>
              </a:rPr>
              <a:t>new YAML plus a diff</a:t>
            </a:r>
            <a:endParaRPr lang="en-US" sz="1200" dirty="0"/>
          </a:p>
        </p:txBody>
      </p:sp>
      <p:sp>
        <p:nvSpPr>
          <p:cNvPr id="23" name="card"/>
          <p:cNvSpPr/>
          <p:nvPr/>
        </p:nvSpPr>
        <p:spPr>
          <a:xfrm>
            <a:off x="457200" y="3200400"/>
            <a:ext cx="2651760" cy="1417320"/>
          </a:xfrm>
          <a:prstGeom prst="roundRect">
            <a:avLst>
              <a:gd name="adj" fmla="val 5161"/>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4" name="Text 21"/>
          <p:cNvSpPr txBox="1"/>
          <p:nvPr/>
        </p:nvSpPr>
        <p:spPr>
          <a:xfrm>
            <a:off x="594360" y="3310128"/>
            <a:ext cx="2377440" cy="708660"/>
          </a:xfrm>
          <a:prstGeom prst="rect">
            <a:avLst/>
          </a:prstGeom>
          <a:noFill/>
          <a:ln/>
        </p:spPr>
        <p:txBody>
          <a:bodyPr wrap="square" lIns="0" tIns="0" rIns="0" bIns="0" rtlCol="0" anchor="ctr"/>
          <a:lstStyle/>
          <a:p>
            <a:pPr indent="0" marL="0">
              <a:buNone/>
            </a:pPr>
            <a:r>
              <a:rPr lang="en-US" sz="2400" b="1" dirty="0">
                <a:solidFill>
                  <a:schemeClr val="accent1"/>
                </a:solidFill>
                <a:latin typeface="Cambria" pitchFamily="34" charset="0"/>
                <a:ea typeface="Cambria" pitchFamily="34" charset="-122"/>
                <a:cs typeface="Cambria" pitchFamily="34" charset="-120"/>
              </a:rPr>
              <a:t>Real data</a:t>
            </a:r>
            <a:endParaRPr lang="en-US" sz="2400" dirty="0"/>
          </a:p>
        </p:txBody>
      </p:sp>
      <p:sp>
        <p:nvSpPr>
          <p:cNvPr id="25" name="Text 22"/>
          <p:cNvSpPr txBox="1"/>
          <p:nvPr/>
        </p:nvSpPr>
        <p:spPr>
          <a:xfrm>
            <a:off x="594360" y="4022446"/>
            <a:ext cx="2377440" cy="538582"/>
          </a:xfrm>
          <a:prstGeom prst="rect">
            <a:avLst/>
          </a:prstGeom>
          <a:noFill/>
          <a:ln/>
        </p:spPr>
        <p:txBody>
          <a:bodyPr wrap="square" lIns="0" tIns="0" rIns="0" bIns="0" rtlCol="0" anchor="t"/>
          <a:lstStyle/>
          <a:p>
            <a:pPr indent="0" marL="0">
              <a:buNone/>
            </a:pPr>
            <a:r>
              <a:rPr lang="en-US" sz="1200" dirty="0">
                <a:solidFill>
                  <a:schemeClr val="tx1"/>
                </a:solidFill>
              </a:rPr>
              <a:t>Nine repositories; no synthetic values shown as results</a:t>
            </a:r>
            <a:endParaRPr lang="en-US" sz="1200" dirty="0"/>
          </a:p>
        </p:txBody>
      </p:sp>
      <p:sp>
        <p:nvSpPr>
          <p:cNvPr id="26" name="card"/>
          <p:cNvSpPr/>
          <p:nvPr/>
        </p:nvSpPr>
        <p:spPr>
          <a:xfrm>
            <a:off x="3246120" y="3200400"/>
            <a:ext cx="2651760" cy="1417320"/>
          </a:xfrm>
          <a:prstGeom prst="roundRect">
            <a:avLst>
              <a:gd name="adj" fmla="val 5161"/>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27" name="Text 24"/>
          <p:cNvSpPr txBox="1"/>
          <p:nvPr/>
        </p:nvSpPr>
        <p:spPr>
          <a:xfrm>
            <a:off x="3383280" y="3310128"/>
            <a:ext cx="2377440" cy="708660"/>
          </a:xfrm>
          <a:prstGeom prst="rect">
            <a:avLst/>
          </a:prstGeom>
          <a:noFill/>
          <a:ln/>
        </p:spPr>
        <p:txBody>
          <a:bodyPr wrap="square" lIns="0" tIns="0" rIns="0" bIns="0" rtlCol="0" anchor="ctr"/>
          <a:lstStyle/>
          <a:p>
            <a:pPr indent="0" marL="0">
              <a:buNone/>
            </a:pPr>
            <a:r>
              <a:rPr lang="en-US" sz="2400" b="1" dirty="0">
                <a:solidFill>
                  <a:schemeClr val="accent1"/>
                </a:solidFill>
                <a:latin typeface="Cambria" pitchFamily="34" charset="0"/>
                <a:ea typeface="Cambria" pitchFamily="34" charset="-122"/>
                <a:cs typeface="Cambria" pitchFamily="34" charset="-120"/>
              </a:rPr>
              <a:t>Honest history</a:t>
            </a:r>
            <a:endParaRPr lang="en-US" sz="2400" dirty="0"/>
          </a:p>
        </p:txBody>
      </p:sp>
      <p:sp>
        <p:nvSpPr>
          <p:cNvPr id="28" name="Text 25"/>
          <p:cNvSpPr txBox="1"/>
          <p:nvPr/>
        </p:nvSpPr>
        <p:spPr>
          <a:xfrm>
            <a:off x="3383280" y="4022446"/>
            <a:ext cx="2377440" cy="538582"/>
          </a:xfrm>
          <a:prstGeom prst="rect">
            <a:avLst/>
          </a:prstGeom>
          <a:noFill/>
          <a:ln/>
        </p:spPr>
        <p:txBody>
          <a:bodyPr wrap="square" lIns="0" tIns="0" rIns="0" bIns="0" rtlCol="0" anchor="t"/>
          <a:lstStyle/>
          <a:p>
            <a:pPr indent="0" marL="0">
              <a:buNone/>
            </a:pPr>
            <a:r>
              <a:rPr lang="en-US" sz="1200" dirty="0">
                <a:solidFill>
                  <a:schemeClr val="tx1"/>
                </a:solidFill>
              </a:rPr>
              <a:t>A run is visible to later runs only after it finished</a:t>
            </a:r>
            <a:endParaRPr lang="en-US" sz="1200" dirty="0"/>
          </a:p>
        </p:txBody>
      </p:sp>
      <p:sp>
        <p:nvSpPr>
          <p:cNvPr id="29" name="card"/>
          <p:cNvSpPr/>
          <p:nvPr/>
        </p:nvSpPr>
        <p:spPr>
          <a:xfrm>
            <a:off x="6035040" y="3200400"/>
            <a:ext cx="2651760" cy="1417320"/>
          </a:xfrm>
          <a:prstGeom prst="roundRect">
            <a:avLst>
              <a:gd name="adj" fmla="val 5161"/>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30" name="Text 27"/>
          <p:cNvSpPr txBox="1"/>
          <p:nvPr/>
        </p:nvSpPr>
        <p:spPr>
          <a:xfrm>
            <a:off x="6172200" y="3310128"/>
            <a:ext cx="2377440" cy="708660"/>
          </a:xfrm>
          <a:prstGeom prst="rect">
            <a:avLst/>
          </a:prstGeom>
          <a:noFill/>
          <a:ln/>
        </p:spPr>
        <p:txBody>
          <a:bodyPr wrap="square" lIns="0" tIns="0" rIns="0" bIns="0" rtlCol="0" anchor="ctr"/>
          <a:lstStyle/>
          <a:p>
            <a:pPr indent="0" marL="0">
              <a:buNone/>
            </a:pPr>
            <a:r>
              <a:rPr lang="en-US" sz="2400" b="1" dirty="0">
                <a:solidFill>
                  <a:schemeClr val="accent1"/>
                </a:solidFill>
                <a:latin typeface="Cambria" pitchFamily="34" charset="0"/>
                <a:ea typeface="Cambria" pitchFamily="34" charset="-122"/>
                <a:cs typeface="Cambria" pitchFamily="34" charset="-120"/>
              </a:rPr>
              <a:t>Safe output</a:t>
            </a:r>
            <a:endParaRPr lang="en-US" sz="2400" dirty="0"/>
          </a:p>
        </p:txBody>
      </p:sp>
      <p:sp>
        <p:nvSpPr>
          <p:cNvPr id="31" name="Text 28"/>
          <p:cNvSpPr txBox="1"/>
          <p:nvPr/>
        </p:nvSpPr>
        <p:spPr>
          <a:xfrm>
            <a:off x="6172200" y="4022446"/>
            <a:ext cx="2377440" cy="538582"/>
          </a:xfrm>
          <a:prstGeom prst="rect">
            <a:avLst/>
          </a:prstGeom>
          <a:noFill/>
          <a:ln/>
        </p:spPr>
        <p:txBody>
          <a:bodyPr wrap="square" lIns="0" tIns="0" rIns="0" bIns="0" rtlCol="0" anchor="t"/>
          <a:lstStyle/>
          <a:p>
            <a:pPr indent="0" marL="0">
              <a:buNone/>
            </a:pPr>
            <a:r>
              <a:rPr lang="en-US" sz="1200" dirty="0">
                <a:solidFill>
                  <a:schemeClr val="tx1"/>
                </a:solidFill>
              </a:rPr>
              <a:t>Original workflow never edited; needs rules kept</a:t>
            </a:r>
            <a:endParaRPr lang="en-US" sz="12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rPr>
              <a:t>The evidence base: real CI history</a:t>
            </a:r>
            <a:endParaRPr lang="en-US" sz="3000" dirty="0"/>
          </a:p>
        </p:txBody>
      </p:sp>
      <p:sp>
        <p:nvSpPr>
          <p:cNvPr id="4" name="takeaway"/>
          <p:cNvSpPr txBox="1"/>
          <p:nvPr/>
        </p:nvSpPr>
        <p:spPr>
          <a:xfrm>
            <a:off x="457200" y="914400"/>
            <a:ext cx="8229600" cy="365760"/>
          </a:xfrm>
          <a:prstGeom prst="rect">
            <a:avLst/>
          </a:prstGeom>
          <a:noFill/>
          <a:ln/>
        </p:spPr>
        <p:txBody>
          <a:bodyPr wrap="square" lIns="0" tIns="0" rIns="0" bIns="0" rtlCol="0" anchor="ctr"/>
          <a:lstStyle/>
          <a:p>
            <a:pPr indent="0" marL="0">
              <a:buNone/>
            </a:pPr>
            <a:r>
              <a:rPr lang="en-US" sz="1600" i="1" dirty="0">
                <a:solidFill>
                  <a:schemeClr val="accent1"/>
                </a:solidFill>
              </a:rPr>
              <a:t>Nine repositories, about 4,600 runs, about 72,000 job rows</a:t>
            </a:r>
            <a:endParaRPr lang="en-US" sz="1600" dirty="0"/>
          </a:p>
        </p:txBody>
      </p:sp>
      <p:graphicFrame>
        <p:nvGraphicFramePr>
          <p:cNvPr id="5" name="Chart 0" descr=""/>
          <p:cNvGraphicFramePr/>
          <p:nvPr/>
        </p:nvGraphicFramePr>
        <p:xfrm>
          <a:off x="365760" y="1371600"/>
          <a:ext cx="4572000" cy="338328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5212080" y="1508760"/>
            <a:ext cx="3474720" cy="30175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Only information available when a run started is used: history comes from runs that had already finished</a:t>
            </a:r>
            <a:endParaRPr lang="en-US" sz="1400" dirty="0"/>
          </a:p>
          <a:p>
            <a:pPr marL="342900" indent="-342900">
              <a:spcAft>
                <a:spcPts val="600"/>
              </a:spcAft>
              <a:buSzPct val="100000"/>
              <a:buChar char="•"/>
            </a:pPr>
            <a:r>
              <a:rPr lang="en-US" sz="1400" dirty="0">
                <a:solidFill>
                  <a:schemeClr val="tx1"/>
                </a:solidFill>
              </a:rPr>
              <a:t>Tests always run on later runs (rolling origin), never a random split</a:t>
            </a:r>
            <a:endParaRPr lang="en-US" sz="1400" dirty="0"/>
          </a:p>
          <a:p>
            <a:pPr marL="342900" indent="-342900">
              <a:spcAft>
                <a:spcPts val="600"/>
              </a:spcAft>
              <a:buSzPct val="100000"/>
              <a:buChar char="•"/>
            </a:pPr>
            <a:r>
              <a:rPr lang="en-US" sz="1400" dirty="0">
                <a:solidFill>
                  <a:schemeClr val="tx1"/>
                </a:solidFill>
              </a:rPr>
              <a:t>Five repositories were never used to make a choice; plans were written first</a:t>
            </a:r>
            <a:endParaRPr lang="en-US" sz="1400" dirty="0"/>
          </a:p>
          <a:p>
            <a:pPr marL="342900" indent="-342900">
              <a:spcAft>
                <a:spcPts val="600"/>
              </a:spcAft>
              <a:buSzPct val="100000"/>
              <a:buChar char="•"/>
            </a:pPr>
            <a:r>
              <a:rPr lang="en-US" sz="1400" dirty="0">
                <a:solidFill>
                  <a:schemeClr val="tx1"/>
                </a:solidFill>
              </a:rPr>
              <a:t>Results are always shown next to a naive baseline</a:t>
            </a:r>
            <a:endParaRPr lang="en-US" sz="14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rPr>
              <a:t>Do the models beat a simple guess?</a:t>
            </a:r>
            <a:endParaRPr lang="en-US" sz="3000" dirty="0"/>
          </a:p>
        </p:txBody>
      </p:sp>
      <p:sp>
        <p:nvSpPr>
          <p:cNvPr id="4" name="takeaway"/>
          <p:cNvSpPr txBox="1"/>
          <p:nvPr/>
        </p:nvSpPr>
        <p:spPr>
          <a:xfrm>
            <a:off x="457200" y="914400"/>
            <a:ext cx="8229600" cy="365760"/>
          </a:xfrm>
          <a:prstGeom prst="rect">
            <a:avLst/>
          </a:prstGeom>
          <a:noFill/>
          <a:ln/>
        </p:spPr>
        <p:txBody>
          <a:bodyPr wrap="square" lIns="0" tIns="0" rIns="0" bIns="0" rtlCol="0" anchor="ctr"/>
          <a:lstStyle/>
          <a:p>
            <a:pPr indent="0" marL="0">
              <a:buNone/>
            </a:pPr>
            <a:r>
              <a:rPr lang="en-US" sz="1600" i="1" dirty="0">
                <a:solidFill>
                  <a:schemeClr val="accent1"/>
                </a:solidFill>
              </a:rPr>
              <a:t>Only in some repositories, and never significantly worse</a:t>
            </a:r>
            <a:endParaRPr lang="en-US" sz="1600" dirty="0"/>
          </a:p>
        </p:txBody>
      </p:sp>
      <p:graphicFrame>
        <p:nvGraphicFramePr>
          <p:cNvPr id="5" name="Chart 0" descr=""/>
          <p:cNvGraphicFramePr/>
          <p:nvPr/>
        </p:nvGraphicFramePr>
        <p:xfrm>
          <a:off x="365760" y="1371600"/>
          <a:ext cx="5120640" cy="3383280"/>
        </p:xfrm>
        <a:graphic xmlns:a="http://schemas.openxmlformats.org/drawingml/2006/main">
          <a:graphicData uri="http://schemas.openxmlformats.org/drawingml/2006/chart">
            <c:chart xmlns:c="http://schemas.openxmlformats.org/drawingml/2006/chart" r:id="rId1"/>
          </a:graphicData>
        </a:graphic>
      </p:graphicFrame>
      <p:sp>
        <p:nvSpPr>
          <p:cNvPr id="6" name="card"/>
          <p:cNvSpPr/>
          <p:nvPr/>
        </p:nvSpPr>
        <p:spPr>
          <a:xfrm>
            <a:off x="5760720" y="1463040"/>
            <a:ext cx="2926080" cy="1051560"/>
          </a:xfrm>
          <a:prstGeom prst="roundRect">
            <a:avLst>
              <a:gd name="adj" fmla="val 695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7" name="Text 3"/>
          <p:cNvSpPr txBox="1"/>
          <p:nvPr/>
        </p:nvSpPr>
        <p:spPr>
          <a:xfrm>
            <a:off x="5897880" y="1572768"/>
            <a:ext cx="2651760" cy="525780"/>
          </a:xfrm>
          <a:prstGeom prst="rect">
            <a:avLst/>
          </a:prstGeom>
          <a:noFill/>
          <a:ln/>
        </p:spPr>
        <p:txBody>
          <a:bodyPr wrap="square" lIns="0" tIns="0" rIns="0" bIns="0" rtlCol="0" anchor="ctr"/>
          <a:lstStyle/>
          <a:p>
            <a:pPr indent="0" marL="0">
              <a:buNone/>
            </a:pPr>
            <a:r>
              <a:rPr lang="en-US" sz="3000" b="1" dirty="0">
                <a:solidFill>
                  <a:schemeClr val="accent4"/>
                </a:solidFill>
                <a:latin typeface="Cambria" pitchFamily="34" charset="0"/>
                <a:ea typeface="Cambria" pitchFamily="34" charset="-122"/>
                <a:cs typeface="Cambria" pitchFamily="34" charset="-120"/>
              </a:rPr>
              <a:t>+0.085</a:t>
            </a:r>
            <a:endParaRPr lang="en-US" sz="3000" dirty="0"/>
          </a:p>
        </p:txBody>
      </p:sp>
      <p:sp>
        <p:nvSpPr>
          <p:cNvPr id="8" name="Text 4"/>
          <p:cNvSpPr txBox="1"/>
          <p:nvPr/>
        </p:nvSpPr>
        <p:spPr>
          <a:xfrm>
            <a:off x="5897880" y="2072945"/>
            <a:ext cx="2651760" cy="399593"/>
          </a:xfrm>
          <a:prstGeom prst="rect">
            <a:avLst/>
          </a:prstGeom>
          <a:noFill/>
          <a:ln/>
        </p:spPr>
        <p:txBody>
          <a:bodyPr wrap="square" lIns="0" tIns="0" rIns="0" bIns="0" rtlCol="0" anchor="t"/>
          <a:lstStyle/>
          <a:p>
            <a:pPr indent="0" marL="0">
              <a:buNone/>
            </a:pPr>
            <a:r>
              <a:rPr lang="en-US" sz="1200" dirty="0">
                <a:solidFill>
                  <a:schemeClr val="tx1"/>
                </a:solidFill>
              </a:rPr>
              <a:t>fastapi: interval excludes 0</a:t>
            </a:r>
            <a:endParaRPr lang="en-US" sz="1200" dirty="0"/>
          </a:p>
        </p:txBody>
      </p:sp>
      <p:sp>
        <p:nvSpPr>
          <p:cNvPr id="9" name="card"/>
          <p:cNvSpPr/>
          <p:nvPr/>
        </p:nvSpPr>
        <p:spPr>
          <a:xfrm>
            <a:off x="5760720" y="2651760"/>
            <a:ext cx="2926080" cy="1051560"/>
          </a:xfrm>
          <a:prstGeom prst="roundRect">
            <a:avLst>
              <a:gd name="adj" fmla="val 6957"/>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0" name="Text 6"/>
          <p:cNvSpPr txBox="1"/>
          <p:nvPr/>
        </p:nvSpPr>
        <p:spPr>
          <a:xfrm>
            <a:off x="5897880" y="2761488"/>
            <a:ext cx="2651760" cy="525780"/>
          </a:xfrm>
          <a:prstGeom prst="rect">
            <a:avLst/>
          </a:prstGeom>
          <a:noFill/>
          <a:ln/>
        </p:spPr>
        <p:txBody>
          <a:bodyPr wrap="square" lIns="0" tIns="0" rIns="0" bIns="0" rtlCol="0" anchor="ctr"/>
          <a:lstStyle/>
          <a:p>
            <a:pPr indent="0" marL="0">
              <a:buNone/>
            </a:pPr>
            <a:r>
              <a:rPr lang="en-US" sz="3000" b="1" dirty="0">
                <a:solidFill>
                  <a:schemeClr val="accent4"/>
                </a:solidFill>
                <a:latin typeface="Cambria" pitchFamily="34" charset="0"/>
                <a:ea typeface="Cambria" pitchFamily="34" charset="-122"/>
                <a:cs typeface="Cambria" pitchFamily="34" charset="-120"/>
              </a:rPr>
              <a:t>+0.110</a:t>
            </a:r>
            <a:endParaRPr lang="en-US" sz="3000" dirty="0"/>
          </a:p>
        </p:txBody>
      </p:sp>
      <p:sp>
        <p:nvSpPr>
          <p:cNvPr id="11" name="Text 7"/>
          <p:cNvSpPr txBox="1"/>
          <p:nvPr/>
        </p:nvSpPr>
        <p:spPr>
          <a:xfrm>
            <a:off x="5897880" y="3261665"/>
            <a:ext cx="2651760" cy="399593"/>
          </a:xfrm>
          <a:prstGeom prst="rect">
            <a:avLst/>
          </a:prstGeom>
          <a:noFill/>
          <a:ln/>
        </p:spPr>
        <p:txBody>
          <a:bodyPr wrap="square" lIns="0" tIns="0" rIns="0" bIns="0" rtlCol="0" anchor="t"/>
          <a:lstStyle/>
          <a:p>
            <a:pPr indent="0" marL="0">
              <a:buNone/>
            </a:pPr>
            <a:r>
              <a:rPr lang="en-US" sz="1200" dirty="0">
                <a:solidFill>
                  <a:schemeClr val="tx1"/>
                </a:solidFill>
              </a:rPr>
              <a:t>pydantic (held out): interval excludes 0</a:t>
            </a:r>
            <a:endParaRPr lang="en-US" sz="1200" dirty="0"/>
          </a:p>
        </p:txBody>
      </p:sp>
      <p:sp>
        <p:nvSpPr>
          <p:cNvPr id="12" name="Text 8"/>
          <p:cNvSpPr txBox="1"/>
          <p:nvPr/>
        </p:nvSpPr>
        <p:spPr>
          <a:xfrm>
            <a:off x="5760720" y="3840480"/>
            <a:ext cx="2926080" cy="731520"/>
          </a:xfrm>
          <a:prstGeom prst="rect">
            <a:avLst/>
          </a:prstGeom>
          <a:noFill/>
          <a:ln/>
        </p:spPr>
        <p:txBody>
          <a:bodyPr wrap="square" lIns="0" tIns="0" rIns="0" bIns="0" rtlCol="0" anchor="t"/>
          <a:lstStyle/>
          <a:p>
            <a:pPr indent="0" marL="0">
              <a:buNone/>
            </a:pPr>
            <a:r>
              <a:rPr lang="en-US" sz="1200" dirty="0">
                <a:solidFill>
                  <a:schemeClr val="accent6"/>
                </a:solidFill>
              </a:rPr>
              <a:t>poetry, prometheus, dubbo: not distinguishable from the baseline</a:t>
            </a:r>
            <a:endParaRPr lang="en-US" sz="12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rPr>
              <a:t>The improvement attempt missed its bar</a:t>
            </a:r>
            <a:endParaRPr lang="en-US" sz="3000" dirty="0"/>
          </a:p>
        </p:txBody>
      </p:sp>
      <p:sp>
        <p:nvSpPr>
          <p:cNvPr id="4" name="takeaway"/>
          <p:cNvSpPr txBox="1"/>
          <p:nvPr/>
        </p:nvSpPr>
        <p:spPr>
          <a:xfrm>
            <a:off x="457200" y="914400"/>
            <a:ext cx="8229600" cy="365760"/>
          </a:xfrm>
          <a:prstGeom prst="rect">
            <a:avLst/>
          </a:prstGeom>
          <a:noFill/>
          <a:ln/>
        </p:spPr>
        <p:txBody>
          <a:bodyPr wrap="square" lIns="0" tIns="0" rIns="0" bIns="0" rtlCol="0" anchor="ctr"/>
          <a:lstStyle/>
          <a:p>
            <a:pPr indent="0" marL="0">
              <a:buNone/>
            </a:pPr>
            <a:r>
              <a:rPr lang="en-US" sz="1600" i="1" dirty="0">
                <a:solidFill>
                  <a:schemeClr val="accent1"/>
                </a:solidFill>
              </a:rPr>
              <a:t>Pre-registered criterion not met; the pooled model is not holding up on fresh data</a:t>
            </a:r>
            <a:endParaRPr lang="en-US" sz="1600" dirty="0"/>
          </a:p>
        </p:txBody>
      </p:sp>
      <p:sp>
        <p:nvSpPr>
          <p:cNvPr id="5" name="card"/>
          <p:cNvSpPr/>
          <p:nvPr/>
        </p:nvSpPr>
        <p:spPr>
          <a:xfrm>
            <a:off x="457200" y="1463040"/>
            <a:ext cx="2651760" cy="1737360"/>
          </a:xfrm>
          <a:prstGeom prst="roundRect">
            <a:avLst>
              <a:gd name="adj" fmla="val 4211"/>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6" name="Text 3"/>
          <p:cNvSpPr txBox="1"/>
          <p:nvPr/>
        </p:nvSpPr>
        <p:spPr>
          <a:xfrm>
            <a:off x="594360" y="1572768"/>
            <a:ext cx="2377440" cy="868680"/>
          </a:xfrm>
          <a:prstGeom prst="rect">
            <a:avLst/>
          </a:prstGeom>
          <a:noFill/>
          <a:ln/>
        </p:spPr>
        <p:txBody>
          <a:bodyPr wrap="square" lIns="0" tIns="0" rIns="0" bIns="0" rtlCol="0" anchor="ctr"/>
          <a:lstStyle/>
          <a:p>
            <a:pPr indent="0" marL="0">
              <a:buNone/>
            </a:pPr>
            <a:r>
              <a:rPr lang="en-US" sz="4000" b="1" dirty="0">
                <a:solidFill>
                  <a:schemeClr val="accent3"/>
                </a:solidFill>
                <a:latin typeface="Cambria" pitchFamily="34" charset="0"/>
                <a:ea typeface="Cambria" pitchFamily="34" charset="-122"/>
                <a:cs typeface="Cambria" pitchFamily="34" charset="-120"/>
              </a:rPr>
              <a:t>2 of 9</a:t>
            </a:r>
            <a:endParaRPr lang="en-US" sz="4000" dirty="0"/>
          </a:p>
        </p:txBody>
      </p:sp>
      <p:sp>
        <p:nvSpPr>
          <p:cNvPr id="7" name="Text 4"/>
          <p:cNvSpPr txBox="1"/>
          <p:nvPr/>
        </p:nvSpPr>
        <p:spPr>
          <a:xfrm>
            <a:off x="594360" y="2470709"/>
            <a:ext cx="2377440" cy="660197"/>
          </a:xfrm>
          <a:prstGeom prst="rect">
            <a:avLst/>
          </a:prstGeom>
          <a:noFill/>
          <a:ln/>
        </p:spPr>
        <p:txBody>
          <a:bodyPr wrap="square" lIns="0" tIns="0" rIns="0" bIns="0" rtlCol="0" anchor="t"/>
          <a:lstStyle/>
          <a:p>
            <a:pPr indent="0" marL="0">
              <a:buNone/>
            </a:pPr>
            <a:r>
              <a:rPr lang="en-US" sz="1200" dirty="0">
                <a:solidFill>
                  <a:schemeClr val="tx1"/>
                </a:solidFill>
              </a:rPr>
              <a:t>repositories beaten by the v2 model; the bar was 3 (not met)</a:t>
            </a:r>
            <a:endParaRPr lang="en-US" sz="1200" dirty="0"/>
          </a:p>
        </p:txBody>
      </p:sp>
      <p:sp>
        <p:nvSpPr>
          <p:cNvPr id="8" name="card"/>
          <p:cNvSpPr/>
          <p:nvPr/>
        </p:nvSpPr>
        <p:spPr>
          <a:xfrm>
            <a:off x="3246120" y="1463040"/>
            <a:ext cx="2651760" cy="1737360"/>
          </a:xfrm>
          <a:prstGeom prst="roundRect">
            <a:avLst>
              <a:gd name="adj" fmla="val 4211"/>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9" name="Text 6"/>
          <p:cNvSpPr txBox="1"/>
          <p:nvPr/>
        </p:nvSpPr>
        <p:spPr>
          <a:xfrm>
            <a:off x="3383280" y="1572768"/>
            <a:ext cx="2377440" cy="868680"/>
          </a:xfrm>
          <a:prstGeom prst="rect">
            <a:avLst/>
          </a:prstGeom>
          <a:noFill/>
          <a:ln/>
        </p:spPr>
        <p:txBody>
          <a:bodyPr wrap="square" lIns="0" tIns="0" rIns="0" bIns="0" rtlCol="0" anchor="ctr"/>
          <a:lstStyle/>
          <a:p>
            <a:pPr indent="0" marL="0">
              <a:buNone/>
            </a:pPr>
            <a:r>
              <a:rPr lang="en-US" sz="4000" b="1" dirty="0">
                <a:solidFill>
                  <a:schemeClr val="accent2"/>
                </a:solidFill>
                <a:latin typeface="Cambria" pitchFamily="34" charset="0"/>
                <a:ea typeface="Cambria" pitchFamily="34" charset="-122"/>
                <a:cs typeface="Cambria" pitchFamily="34" charset="-120"/>
              </a:rPr>
              <a:t>3 of 9</a:t>
            </a:r>
            <a:endParaRPr lang="en-US" sz="4000" dirty="0"/>
          </a:p>
        </p:txBody>
      </p:sp>
      <p:sp>
        <p:nvSpPr>
          <p:cNvPr id="10" name="Text 7"/>
          <p:cNvSpPr txBox="1"/>
          <p:nvPr/>
        </p:nvSpPr>
        <p:spPr>
          <a:xfrm>
            <a:off x="3383280" y="2470709"/>
            <a:ext cx="2377440" cy="660197"/>
          </a:xfrm>
          <a:prstGeom prst="rect">
            <a:avLst/>
          </a:prstGeom>
          <a:noFill/>
          <a:ln/>
        </p:spPr>
        <p:txBody>
          <a:bodyPr wrap="square" lIns="0" tIns="0" rIns="0" bIns="0" rtlCol="0" anchor="t"/>
          <a:lstStyle/>
          <a:p>
            <a:pPr indent="0" marL="0">
              <a:buNone/>
            </a:pPr>
            <a:r>
              <a:rPr lang="en-US" sz="1200" dirty="0">
                <a:solidFill>
                  <a:schemeClr val="tx1"/>
                </a:solidFill>
              </a:rPr>
              <a:t>pooled model on old data: exploratory, designed after seeing results</a:t>
            </a:r>
            <a:endParaRPr lang="en-US" sz="1200" dirty="0"/>
          </a:p>
        </p:txBody>
      </p:sp>
      <p:sp>
        <p:nvSpPr>
          <p:cNvPr id="11" name="card"/>
          <p:cNvSpPr/>
          <p:nvPr/>
        </p:nvSpPr>
        <p:spPr>
          <a:xfrm>
            <a:off x="6035040" y="1463040"/>
            <a:ext cx="2651760" cy="1737360"/>
          </a:xfrm>
          <a:prstGeom prst="roundRect">
            <a:avLst>
              <a:gd name="adj" fmla="val 4211"/>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2" name="Text 9"/>
          <p:cNvSpPr txBox="1"/>
          <p:nvPr/>
        </p:nvSpPr>
        <p:spPr>
          <a:xfrm>
            <a:off x="6172200" y="1572768"/>
            <a:ext cx="2377440" cy="868680"/>
          </a:xfrm>
          <a:prstGeom prst="rect">
            <a:avLst/>
          </a:prstGeom>
          <a:noFill/>
          <a:ln/>
        </p:spPr>
        <p:txBody>
          <a:bodyPr wrap="square" lIns="0" tIns="0" rIns="0" bIns="0" rtlCol="0" anchor="ctr"/>
          <a:lstStyle/>
          <a:p>
            <a:pPr indent="0" marL="0">
              <a:buNone/>
            </a:pPr>
            <a:r>
              <a:rPr lang="en-US" sz="4000" b="1" dirty="0">
                <a:solidFill>
                  <a:schemeClr val="accent3"/>
                </a:solidFill>
                <a:latin typeface="Cambria" pitchFamily="34" charset="0"/>
                <a:ea typeface="Cambria" pitchFamily="34" charset="-122"/>
                <a:cs typeface="Cambria" pitchFamily="34" charset="-120"/>
              </a:rPr>
              <a:t>1 of 3</a:t>
            </a:r>
            <a:endParaRPr lang="en-US" sz="4000" dirty="0"/>
          </a:p>
        </p:txBody>
      </p:sp>
      <p:sp>
        <p:nvSpPr>
          <p:cNvPr id="13" name="Text 10"/>
          <p:cNvSpPr txBox="1"/>
          <p:nvPr/>
        </p:nvSpPr>
        <p:spPr>
          <a:xfrm>
            <a:off x="6172200" y="2470709"/>
            <a:ext cx="2377440" cy="660197"/>
          </a:xfrm>
          <a:prstGeom prst="rect">
            <a:avLst/>
          </a:prstGeom>
          <a:noFill/>
          <a:ln/>
        </p:spPr>
        <p:txBody>
          <a:bodyPr wrap="square" lIns="0" tIns="0" rIns="0" bIns="0" rtlCol="0" anchor="t"/>
          <a:lstStyle/>
          <a:p>
            <a:pPr indent="0" marL="0">
              <a:buNone/>
            </a:pPr>
            <a:r>
              <a:rPr lang="en-US" sz="1200" dirty="0">
                <a:solidFill>
                  <a:schemeClr val="tx1"/>
                </a:solidFill>
              </a:rPr>
              <a:t>pooled model on fresh data so far: would be rejected if final</a:t>
            </a:r>
            <a:endParaRPr lang="en-US" sz="1200" dirty="0"/>
          </a:p>
        </p:txBody>
      </p:sp>
      <p:sp>
        <p:nvSpPr>
          <p:cNvPr id="14" name="Text 11"/>
          <p:cNvSpPr txBox="1"/>
          <p:nvPr/>
        </p:nvSpPr>
        <p:spPr>
          <a:xfrm>
            <a:off x="457200" y="3429000"/>
            <a:ext cx="8229600" cy="274320"/>
          </a:xfrm>
          <a:prstGeom prst="rect">
            <a:avLst/>
          </a:prstGeom>
          <a:noFill/>
          <a:ln/>
        </p:spPr>
        <p:txBody>
          <a:bodyPr wrap="square" lIns="0" tIns="0" rIns="0" bIns="0" rtlCol="0" anchor="ctr"/>
          <a:lstStyle/>
          <a:p>
            <a:pPr indent="0" marL="0">
              <a:buNone/>
            </a:pPr>
            <a:r>
              <a:rPr lang="en-US" sz="1600" b="1" dirty="0">
                <a:solidFill>
                  <a:schemeClr val="tx1"/>
                </a:solidFill>
              </a:rPr>
              <a:t>What this means</a:t>
            </a:r>
            <a:endParaRPr lang="en-US" sz="1600" dirty="0"/>
          </a:p>
        </p:txBody>
      </p:sp>
      <p:sp>
        <p:nvSpPr>
          <p:cNvPr id="15" name="Text 12"/>
          <p:cNvSpPr txBox="1"/>
          <p:nvPr/>
        </p:nvSpPr>
        <p:spPr>
          <a:xfrm>
            <a:off x="457200" y="3749040"/>
            <a:ext cx="8229600" cy="10058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We report the miss as a miss; the rule and the bar were not changed after seeing results</a:t>
            </a:r>
            <a:endParaRPr lang="en-US" sz="1300" dirty="0"/>
          </a:p>
          <a:p>
            <a:pPr marL="342900" indent="-342900">
              <a:spcAft>
                <a:spcPts val="600"/>
              </a:spcAft>
              <a:buSzPct val="100000"/>
              <a:buChar char="•"/>
            </a:pPr>
            <a:r>
              <a:rPr lang="en-US" sz="1300" dirty="0">
                <a:solidFill>
                  <a:schemeClr val="tx1"/>
                </a:solidFill>
              </a:rPr>
              <a:t>Fresh-data verdicts are fixed for 21 October (logistic default) and 26 October (pooled model); today's numbers are interim</a:t>
            </a:r>
            <a:endParaRPr lang="en-US" sz="13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rPr>
              <a:t>A failure score is not a probability</a:t>
            </a:r>
            <a:endParaRPr lang="en-US" sz="3000" dirty="0"/>
          </a:p>
        </p:txBody>
      </p:sp>
      <p:sp>
        <p:nvSpPr>
          <p:cNvPr id="4" name="takeaway"/>
          <p:cNvSpPr txBox="1"/>
          <p:nvPr/>
        </p:nvSpPr>
        <p:spPr>
          <a:xfrm>
            <a:off x="457200" y="914400"/>
            <a:ext cx="8229600" cy="365760"/>
          </a:xfrm>
          <a:prstGeom prst="rect">
            <a:avLst/>
          </a:prstGeom>
          <a:noFill/>
          <a:ln/>
        </p:spPr>
        <p:txBody>
          <a:bodyPr wrap="square" lIns="0" tIns="0" rIns="0" bIns="0" rtlCol="0" anchor="ctr"/>
          <a:lstStyle/>
          <a:p>
            <a:pPr indent="0" marL="0">
              <a:buNone/>
            </a:pPr>
            <a:r>
              <a:rPr lang="en-US" sz="1600" i="1" dirty="0">
                <a:solidFill>
                  <a:schemeClr val="accent1"/>
                </a:solidFill>
              </a:rPr>
              <a:t>Recalibrating did not help, so the dashboard reports observed rates instead</a:t>
            </a:r>
            <a:endParaRPr lang="en-US" sz="1600" dirty="0"/>
          </a:p>
        </p:txBody>
      </p:sp>
      <p:graphicFrame>
        <p:nvGraphicFramePr>
          <p:cNvPr id="5" name="Chart 0" descr=""/>
          <p:cNvGraphicFramePr/>
          <p:nvPr/>
        </p:nvGraphicFramePr>
        <p:xfrm>
          <a:off x="274320" y="1371600"/>
          <a:ext cx="5029200" cy="338328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5394960" y="1508760"/>
            <a:ext cx="3291840" cy="31089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Top group over-confident: fastapi predicted 0.49, observed 0.37</a:t>
            </a:r>
            <a:endParaRPr lang="en-US" sz="1400" dirty="0"/>
          </a:p>
          <a:p>
            <a:pPr marL="342900" indent="-342900">
              <a:spcAft>
                <a:spcPts val="600"/>
              </a:spcAft>
              <a:buSzPct val="100000"/>
              <a:buChar char="•"/>
            </a:pPr>
            <a:r>
              <a:rPr lang="en-US" sz="1400" dirty="0">
                <a:solidFill>
                  <a:schemeClr val="tx1"/>
                </a:solidFill>
              </a:rPr>
              <a:t>Platt scaling and an isotonic map did not improve the Brier score in 3 of 4 repositories</a:t>
            </a:r>
            <a:endParaRPr lang="en-US" sz="1400" dirty="0"/>
          </a:p>
          <a:p>
            <a:pPr marL="342900" indent="-342900">
              <a:spcAft>
                <a:spcPts val="600"/>
              </a:spcAft>
              <a:buSzPct val="100000"/>
              <a:buChar char="•"/>
            </a:pPr>
            <a:r>
              <a:rPr lang="en-US" sz="1400" dirty="0">
                <a:solidFill>
                  <a:schemeClr val="tx1"/>
                </a:solidFill>
              </a:rPr>
              <a:t>poetry's main test job scored 0.91, above any score seen on unseen rows (highest 0.58)</a:t>
            </a:r>
            <a:endParaRPr lang="en-US" sz="1400" dirty="0"/>
          </a:p>
          <a:p>
            <a:pPr marL="342900" indent="-342900">
              <a:spcAft>
                <a:spcPts val="600"/>
              </a:spcAft>
              <a:buSzPct val="100000"/>
              <a:buChar char="•"/>
            </a:pPr>
            <a:r>
              <a:rPr lang="en-US" sz="1400" dirty="0">
                <a:solidFill>
                  <a:schemeClr val="tx1"/>
                </a:solidFill>
              </a:rPr>
              <a:t>So the dashboard shows base rate and observed rate beside the score</a:t>
            </a:r>
            <a:endParaRPr lang="en-US" sz="14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rPr>
              <a:t>Does scheduling make CI faster?</a:t>
            </a:r>
            <a:endParaRPr lang="en-US" sz="3000" dirty="0"/>
          </a:p>
        </p:txBody>
      </p:sp>
      <p:sp>
        <p:nvSpPr>
          <p:cNvPr id="4" name="takeaway"/>
          <p:cNvSpPr txBox="1"/>
          <p:nvPr/>
        </p:nvSpPr>
        <p:spPr>
          <a:xfrm>
            <a:off x="457200" y="914400"/>
            <a:ext cx="8229600" cy="365760"/>
          </a:xfrm>
          <a:prstGeom prst="rect">
            <a:avLst/>
          </a:prstGeom>
          <a:noFill/>
          <a:ln/>
        </p:spPr>
        <p:txBody>
          <a:bodyPr wrap="square" lIns="0" tIns="0" rIns="0" bIns="0" rtlCol="0" anchor="ctr"/>
          <a:lstStyle/>
          <a:p>
            <a:pPr indent="0" marL="0">
              <a:buNone/>
            </a:pPr>
            <a:r>
              <a:rPr lang="en-US" sz="1600" i="1" dirty="0">
                <a:solidFill>
                  <a:schemeClr val="accent1"/>
                </a:solidFill>
              </a:rPr>
              <a:t>Measured on one simple pipeline; about zero on mature ones</a:t>
            </a:r>
            <a:endParaRPr lang="en-US" sz="1600" dirty="0"/>
          </a:p>
        </p:txBody>
      </p:sp>
      <p:graphicFrame>
        <p:nvGraphicFramePr>
          <p:cNvPr id="5" name="Chart 0" descr=""/>
          <p:cNvGraphicFramePr/>
          <p:nvPr/>
        </p:nvGraphicFramePr>
        <p:xfrm>
          <a:off x="365760" y="1371600"/>
          <a:ext cx="4023360" cy="3383280"/>
        </p:xfrm>
        <a:graphic xmlns:a="http://schemas.openxmlformats.org/drawingml/2006/main">
          <a:graphicData uri="http://schemas.openxmlformats.org/drawingml/2006/chart">
            <c:chart xmlns:c="http://schemas.openxmlformats.org/drawingml/2006/chart" r:id="rId1"/>
          </a:graphicData>
        </a:graphic>
      </p:graphicFrame>
      <p:sp>
        <p:nvSpPr>
          <p:cNvPr id="6" name="card"/>
          <p:cNvSpPr/>
          <p:nvPr/>
        </p:nvSpPr>
        <p:spPr>
          <a:xfrm>
            <a:off x="4663440" y="1463040"/>
            <a:ext cx="1920240" cy="1188720"/>
          </a:xfrm>
          <a:prstGeom prst="roundRect">
            <a:avLst>
              <a:gd name="adj" fmla="val 6154"/>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7" name="Text 3"/>
          <p:cNvSpPr txBox="1"/>
          <p:nvPr/>
        </p:nvSpPr>
        <p:spPr>
          <a:xfrm>
            <a:off x="4800600" y="1572768"/>
            <a:ext cx="1645920" cy="594360"/>
          </a:xfrm>
          <a:prstGeom prst="rect">
            <a:avLst/>
          </a:prstGeom>
          <a:noFill/>
          <a:ln/>
        </p:spPr>
        <p:txBody>
          <a:bodyPr wrap="square" lIns="0" tIns="0" rIns="0" bIns="0" rtlCol="0" anchor="ctr"/>
          <a:lstStyle/>
          <a:p>
            <a:pPr indent="0" marL="0">
              <a:buNone/>
            </a:pPr>
            <a:r>
              <a:rPr lang="en-US" sz="2600" b="1" dirty="0">
                <a:solidFill>
                  <a:schemeClr val="accent4"/>
                </a:solidFill>
                <a:latin typeface="Cambria" pitchFamily="34" charset="0"/>
                <a:ea typeface="Cambria" pitchFamily="34" charset="-122"/>
                <a:cs typeface="Cambria" pitchFamily="34" charset="-120"/>
              </a:rPr>
              <a:t>-15.1%</a:t>
            </a:r>
            <a:endParaRPr lang="en-US" sz="2600" dirty="0"/>
          </a:p>
        </p:txBody>
      </p:sp>
      <p:sp>
        <p:nvSpPr>
          <p:cNvPr id="8" name="Text 4"/>
          <p:cNvSpPr txBox="1"/>
          <p:nvPr/>
        </p:nvSpPr>
        <p:spPr>
          <a:xfrm>
            <a:off x="4800600" y="2152498"/>
            <a:ext cx="1645920" cy="451714"/>
          </a:xfrm>
          <a:prstGeom prst="rect">
            <a:avLst/>
          </a:prstGeom>
          <a:noFill/>
          <a:ln/>
        </p:spPr>
        <p:txBody>
          <a:bodyPr wrap="square" lIns="0" tIns="0" rIns="0" bIns="0" rtlCol="0" anchor="t"/>
          <a:lstStyle/>
          <a:p>
            <a:pPr indent="0" marL="0">
              <a:buNone/>
            </a:pPr>
            <a:r>
              <a:rPr lang="en-US" sz="1200" dirty="0">
                <a:solidFill>
                  <a:schemeClr val="tx1"/>
                </a:solidFill>
              </a:rPr>
              <a:t>critical path, p = 0.013</a:t>
            </a:r>
            <a:endParaRPr lang="en-US" sz="1200" dirty="0"/>
          </a:p>
        </p:txBody>
      </p:sp>
      <p:sp>
        <p:nvSpPr>
          <p:cNvPr id="9" name="card"/>
          <p:cNvSpPr/>
          <p:nvPr/>
        </p:nvSpPr>
        <p:spPr>
          <a:xfrm>
            <a:off x="6720840" y="1463040"/>
            <a:ext cx="1965960" cy="1188720"/>
          </a:xfrm>
          <a:prstGeom prst="roundRect">
            <a:avLst>
              <a:gd name="adj" fmla="val 6154"/>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0" name="Text 6"/>
          <p:cNvSpPr txBox="1"/>
          <p:nvPr/>
        </p:nvSpPr>
        <p:spPr>
          <a:xfrm>
            <a:off x="6858000" y="1572768"/>
            <a:ext cx="1691640" cy="594360"/>
          </a:xfrm>
          <a:prstGeom prst="rect">
            <a:avLst/>
          </a:prstGeom>
          <a:noFill/>
          <a:ln/>
        </p:spPr>
        <p:txBody>
          <a:bodyPr wrap="square" lIns="0" tIns="0" rIns="0" bIns="0" rtlCol="0" anchor="ctr"/>
          <a:lstStyle/>
          <a:p>
            <a:pPr indent="0" marL="0">
              <a:buNone/>
            </a:pPr>
            <a:r>
              <a:rPr lang="en-US" sz="2600" b="1" dirty="0">
                <a:solidFill>
                  <a:schemeClr val="accent2"/>
                </a:solidFill>
                <a:latin typeface="Cambria" pitchFamily="34" charset="0"/>
                <a:ea typeface="Cambria" pitchFamily="34" charset="-122"/>
                <a:cs typeface="Cambria" pitchFamily="34" charset="-120"/>
              </a:rPr>
              <a:t>+4.1%</a:t>
            </a:r>
            <a:endParaRPr lang="en-US" sz="2600" dirty="0"/>
          </a:p>
        </p:txBody>
      </p:sp>
      <p:sp>
        <p:nvSpPr>
          <p:cNvPr id="11" name="Text 7"/>
          <p:cNvSpPr txBox="1"/>
          <p:nvPr/>
        </p:nvSpPr>
        <p:spPr>
          <a:xfrm>
            <a:off x="6858000" y="2152498"/>
            <a:ext cx="1691640" cy="451714"/>
          </a:xfrm>
          <a:prstGeom prst="rect">
            <a:avLst/>
          </a:prstGeom>
          <a:noFill/>
          <a:ln/>
        </p:spPr>
        <p:txBody>
          <a:bodyPr wrap="square" lIns="0" tIns="0" rIns="0" bIns="0" rtlCol="0" anchor="t"/>
          <a:lstStyle/>
          <a:p>
            <a:pPr indent="0" marL="0">
              <a:buNone/>
            </a:pPr>
            <a:r>
              <a:rPr lang="en-US" sz="1200" dirty="0">
                <a:solidFill>
                  <a:schemeClr val="tx1"/>
                </a:solidFill>
              </a:rPr>
              <a:t>billable time, not significant</a:t>
            </a:r>
            <a:endParaRPr lang="en-US" sz="1200" dirty="0"/>
          </a:p>
        </p:txBody>
      </p:sp>
      <p:sp>
        <p:nvSpPr>
          <p:cNvPr id="12" name="Text 8"/>
          <p:cNvSpPr txBox="1"/>
          <p:nvPr/>
        </p:nvSpPr>
        <p:spPr>
          <a:xfrm>
            <a:off x="4663440" y="2788920"/>
            <a:ext cx="4023360" cy="19659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Default plan: 0% estimated saving; replay on 9 repositories: about 0%</a:t>
            </a:r>
            <a:endParaRPr lang="en-US" sz="1400" dirty="0"/>
          </a:p>
          <a:p>
            <a:pPr marL="342900" indent="-342900">
              <a:spcAft>
                <a:spcPts val="600"/>
              </a:spcAft>
              <a:buSzPct val="100000"/>
              <a:buChar char="•"/>
            </a:pPr>
            <a:r>
              <a:rPr lang="en-US" sz="1400" dirty="0">
                <a:solidFill>
                  <a:schemeClr val="tx1"/>
                </a:solidFill>
              </a:rPr>
              <a:t>Skipping unreached jobs saves 12-17% but hides 3-10% of failures: advisory only</a:t>
            </a:r>
            <a:endParaRPr lang="en-US" sz="1400" dirty="0"/>
          </a:p>
          <a:p>
            <a:pPr marL="342900" indent="-342900">
              <a:spcAft>
                <a:spcPts val="600"/>
              </a:spcAft>
              <a:buSzPct val="100000"/>
              <a:buChar char="•"/>
            </a:pPr>
            <a:r>
              <a:rPr lang="en-US" sz="1400" dirty="0">
                <a:solidFill>
                  <a:schemeClr val="tx1"/>
                </a:solidFill>
              </a:rPr>
              <a:t>Generated workflow ran identically on real runs (+0.3%, p = 0.92)</a:t>
            </a:r>
            <a:endParaRPr lang="en-US" sz="14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rPr>
              <a:t>What real CI failures look like</a:t>
            </a:r>
            <a:endParaRPr lang="en-US" sz="3000" dirty="0"/>
          </a:p>
        </p:txBody>
      </p:sp>
      <p:sp>
        <p:nvSpPr>
          <p:cNvPr id="4" name="takeaway"/>
          <p:cNvSpPr txBox="1"/>
          <p:nvPr/>
        </p:nvSpPr>
        <p:spPr>
          <a:xfrm>
            <a:off x="457200" y="914400"/>
            <a:ext cx="8229600" cy="365760"/>
          </a:xfrm>
          <a:prstGeom prst="rect">
            <a:avLst/>
          </a:prstGeom>
          <a:noFill/>
          <a:ln/>
        </p:spPr>
        <p:txBody>
          <a:bodyPr wrap="square" lIns="0" tIns="0" rIns="0" bIns="0" rtlCol="0" anchor="ctr"/>
          <a:lstStyle/>
          <a:p>
            <a:pPr indent="0" marL="0">
              <a:buNone/>
            </a:pPr>
            <a:r>
              <a:rPr lang="en-US" sz="1600" i="1" dirty="0">
                <a:solidFill>
                  <a:schemeClr val="accent1"/>
                </a:solidFill>
              </a:rPr>
              <a:t>About half of failed jobs in poetry and fastapi only repeat an upstream failure</a:t>
            </a:r>
            <a:endParaRPr lang="en-US" sz="1600" dirty="0"/>
          </a:p>
        </p:txBody>
      </p:sp>
      <p:graphicFrame>
        <p:nvGraphicFramePr>
          <p:cNvPr id="5" name="Chart 0" descr=""/>
          <p:cNvGraphicFramePr/>
          <p:nvPr/>
        </p:nvGraphicFramePr>
        <p:xfrm>
          <a:off x="365760" y="1371600"/>
          <a:ext cx="4572000" cy="3383280"/>
        </p:xfrm>
        <a:graphic xmlns:a="http://schemas.openxmlformats.org/drawingml/2006/main">
          <a:graphicData uri="http://schemas.openxmlformats.org/drawingml/2006/chart">
            <c:chart xmlns:c="http://schemas.openxmlformats.org/drawingml/2006/chart" r:id="rId1"/>
          </a:graphicData>
        </a:graphic>
      </p:graphicFrame>
      <p:sp>
        <p:nvSpPr>
          <p:cNvPr id="6" name="card"/>
          <p:cNvSpPr/>
          <p:nvPr/>
        </p:nvSpPr>
        <p:spPr>
          <a:xfrm>
            <a:off x="5212080" y="1463040"/>
            <a:ext cx="3474720" cy="1234440"/>
          </a:xfrm>
          <a:prstGeom prst="roundRect">
            <a:avLst>
              <a:gd name="adj" fmla="val 5926"/>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7" name="Text 3"/>
          <p:cNvSpPr txBox="1"/>
          <p:nvPr/>
        </p:nvSpPr>
        <p:spPr>
          <a:xfrm>
            <a:off x="5349240" y="1572768"/>
            <a:ext cx="3200400" cy="61722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10-25%</a:t>
            </a:r>
            <a:endParaRPr lang="en-US" sz="3000" dirty="0"/>
          </a:p>
        </p:txBody>
      </p:sp>
      <p:sp>
        <p:nvSpPr>
          <p:cNvPr id="8" name="Text 4"/>
          <p:cNvSpPr txBox="1"/>
          <p:nvPr/>
        </p:nvSpPr>
        <p:spPr>
          <a:xfrm>
            <a:off x="5349240" y="2179015"/>
            <a:ext cx="3200400" cy="469087"/>
          </a:xfrm>
          <a:prstGeom prst="rect">
            <a:avLst/>
          </a:prstGeom>
          <a:noFill/>
          <a:ln/>
        </p:spPr>
        <p:txBody>
          <a:bodyPr wrap="square" lIns="0" tIns="0" rIns="0" bIns="0" rtlCol="0" anchor="t"/>
          <a:lstStyle/>
          <a:p>
            <a:pPr indent="0" marL="0">
              <a:buNone/>
            </a:pPr>
            <a:r>
              <a:rPr lang="en-US" sz="1200" dirty="0">
                <a:solidFill>
                  <a:schemeClr val="tx1"/>
                </a:solidFill>
              </a:rPr>
              <a:t>of red runs in four repositories needed no code fix</a:t>
            </a:r>
            <a:endParaRPr lang="en-US" sz="1200" dirty="0"/>
          </a:p>
        </p:txBody>
      </p:sp>
      <p:sp>
        <p:nvSpPr>
          <p:cNvPr id="9" name="Text 5"/>
          <p:cNvSpPr txBox="1"/>
          <p:nvPr/>
        </p:nvSpPr>
        <p:spPr>
          <a:xfrm>
            <a:off x="5212080" y="2880360"/>
            <a:ext cx="3474720" cy="18745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Classes: repeat alert, flaky, pre-existing, fixed later, persistent, unrelated</a:t>
            </a:r>
            <a:endParaRPr lang="en-US" sz="1400" dirty="0"/>
          </a:p>
          <a:p>
            <a:pPr marL="342900" indent="-342900">
              <a:spcAft>
                <a:spcPts val="600"/>
              </a:spcAft>
              <a:buSzPct val="100000"/>
              <a:buChar char="•"/>
            </a:pPr>
            <a:r>
              <a:rPr lang="en-US" sz="1400" dirty="0">
                <a:solidFill>
                  <a:schemeClr val="tx1"/>
                </a:solidFill>
              </a:rPr>
              <a:t>Limits: flakiness under-counted; classes are heuristics, not checked against developers</a:t>
            </a:r>
            <a:endParaRPr lang="en-US" sz="14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rPr>
              <a:t>Predicting live, before jobs finish</a:t>
            </a:r>
            <a:endParaRPr lang="en-US" sz="3000" dirty="0"/>
          </a:p>
        </p:txBody>
      </p:sp>
      <p:sp>
        <p:nvSpPr>
          <p:cNvPr id="4" name="takeaway"/>
          <p:cNvSpPr txBox="1"/>
          <p:nvPr/>
        </p:nvSpPr>
        <p:spPr>
          <a:xfrm>
            <a:off x="457200" y="914400"/>
            <a:ext cx="8229600" cy="365760"/>
          </a:xfrm>
          <a:prstGeom prst="rect">
            <a:avLst/>
          </a:prstGeom>
          <a:noFill/>
          <a:ln/>
        </p:spPr>
        <p:txBody>
          <a:bodyPr wrap="square" lIns="0" tIns="0" rIns="0" bIns="0" rtlCol="0" anchor="ctr"/>
          <a:lstStyle/>
          <a:p>
            <a:pPr indent="0" marL="0">
              <a:buNone/>
            </a:pPr>
            <a:r>
              <a:rPr lang="en-US" sz="1600" i="1" dirty="0">
                <a:solidFill>
                  <a:schemeClr val="accent1"/>
                </a:solidFill>
              </a:rPr>
              <a:t>Interim, after two days: neither model beats the baseline on uv</a:t>
            </a:r>
            <a:endParaRPr lang="en-US" sz="1600" dirty="0"/>
          </a:p>
        </p:txBody>
      </p:sp>
      <p:graphicFrame>
        <p:nvGraphicFramePr>
          <p:cNvPr id="5" name="Chart 0" descr=""/>
          <p:cNvGraphicFramePr/>
          <p:nvPr/>
        </p:nvGraphicFramePr>
        <p:xfrm>
          <a:off x="365760" y="1371600"/>
          <a:ext cx="4389120" cy="3383280"/>
        </p:xfrm>
        <a:graphic xmlns:a="http://schemas.openxmlformats.org/drawingml/2006/main">
          <a:graphicData uri="http://schemas.openxmlformats.org/drawingml/2006/chart">
            <c:chart xmlns:c="http://schemas.openxmlformats.org/drawingml/2006/chart" r:id="rId1"/>
          </a:graphicData>
        </a:graphic>
      </p:graphicFrame>
      <p:sp>
        <p:nvSpPr>
          <p:cNvPr id="6" name="card"/>
          <p:cNvSpPr/>
          <p:nvPr/>
        </p:nvSpPr>
        <p:spPr>
          <a:xfrm>
            <a:off x="5029200" y="1463040"/>
            <a:ext cx="1783080" cy="1143000"/>
          </a:xfrm>
          <a:prstGeom prst="roundRect">
            <a:avLst>
              <a:gd name="adj" fmla="val 6400"/>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7" name="Text 3"/>
          <p:cNvSpPr txBox="1"/>
          <p:nvPr/>
        </p:nvSpPr>
        <p:spPr>
          <a:xfrm>
            <a:off x="5166360" y="1572768"/>
            <a:ext cx="1508760" cy="571500"/>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46</a:t>
            </a:r>
            <a:endParaRPr lang="en-US" sz="2800" dirty="0"/>
          </a:p>
        </p:txBody>
      </p:sp>
      <p:sp>
        <p:nvSpPr>
          <p:cNvPr id="8" name="Text 4"/>
          <p:cNvSpPr txBox="1"/>
          <p:nvPr/>
        </p:nvSpPr>
        <p:spPr>
          <a:xfrm>
            <a:off x="5166360" y="2125980"/>
            <a:ext cx="1508760" cy="434340"/>
          </a:xfrm>
          <a:prstGeom prst="rect">
            <a:avLst/>
          </a:prstGeom>
          <a:noFill/>
          <a:ln/>
        </p:spPr>
        <p:txBody>
          <a:bodyPr wrap="square" lIns="0" tIns="0" rIns="0" bIns="0" rtlCol="0" anchor="t"/>
          <a:lstStyle/>
          <a:p>
            <a:pPr indent="0" marL="0">
              <a:buNone/>
            </a:pPr>
            <a:r>
              <a:rPr lang="en-US" sz="1200" dirty="0">
                <a:solidFill>
                  <a:schemeClr val="tx1"/>
                </a:solidFill>
              </a:rPr>
              <a:t>runs with outcomes</a:t>
            </a:r>
            <a:endParaRPr lang="en-US" sz="1200" dirty="0"/>
          </a:p>
        </p:txBody>
      </p:sp>
      <p:sp>
        <p:nvSpPr>
          <p:cNvPr id="9" name="card"/>
          <p:cNvSpPr/>
          <p:nvPr/>
        </p:nvSpPr>
        <p:spPr>
          <a:xfrm>
            <a:off x="6903720" y="1463040"/>
            <a:ext cx="1783080" cy="1143000"/>
          </a:xfrm>
          <a:prstGeom prst="roundRect">
            <a:avLst>
              <a:gd name="adj" fmla="val 6400"/>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0" name="Text 6"/>
          <p:cNvSpPr txBox="1"/>
          <p:nvPr/>
        </p:nvSpPr>
        <p:spPr>
          <a:xfrm>
            <a:off x="7040880" y="1572768"/>
            <a:ext cx="1508760" cy="571500"/>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43</a:t>
            </a:r>
            <a:endParaRPr lang="en-US" sz="2800" dirty="0"/>
          </a:p>
        </p:txBody>
      </p:sp>
      <p:sp>
        <p:nvSpPr>
          <p:cNvPr id="11" name="Text 7"/>
          <p:cNvSpPr txBox="1"/>
          <p:nvPr/>
        </p:nvSpPr>
        <p:spPr>
          <a:xfrm>
            <a:off x="7040880" y="2125980"/>
            <a:ext cx="1508760" cy="434340"/>
          </a:xfrm>
          <a:prstGeom prst="rect">
            <a:avLst/>
          </a:prstGeom>
          <a:noFill/>
          <a:ln/>
        </p:spPr>
        <p:txBody>
          <a:bodyPr wrap="square" lIns="0" tIns="0" rIns="0" bIns="0" rtlCol="0" anchor="t"/>
          <a:lstStyle/>
          <a:p>
            <a:pPr indent="0" marL="0">
              <a:buNone/>
            </a:pPr>
            <a:r>
              <a:rPr lang="en-US" sz="1200" dirty="0">
                <a:solidFill>
                  <a:schemeClr val="tx1"/>
                </a:solidFill>
              </a:rPr>
              <a:t>failing jobs of 739</a:t>
            </a:r>
            <a:endParaRPr lang="en-US" sz="1200" dirty="0"/>
          </a:p>
        </p:txBody>
      </p:sp>
      <p:sp>
        <p:nvSpPr>
          <p:cNvPr id="12" name="Text 8"/>
          <p:cNvSpPr txBox="1"/>
          <p:nvPr/>
        </p:nvSpPr>
        <p:spPr>
          <a:xfrm>
            <a:off x="5029200" y="2788920"/>
            <a:ext cx="3657600" cy="19659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Old logistic vs baseline: -0.173 (excludes 0); v2: -0.082 (includes 0)</a:t>
            </a:r>
            <a:endParaRPr lang="en-US" sz="1400" dirty="0"/>
          </a:p>
          <a:p>
            <a:pPr marL="342900" indent="-342900">
              <a:spcAft>
                <a:spcPts val="600"/>
              </a:spcAft>
              <a:buSzPct val="100000"/>
              <a:buChar char="•"/>
            </a:pPr>
            <a:r>
              <a:rPr lang="en-US" sz="1400" dirty="0">
                <a:solidFill>
                  <a:schemeClr val="tx1"/>
                </a:solidFill>
              </a:rPr>
              <a:t>ruff: no failures; prometheus: cannot be scored</a:t>
            </a:r>
            <a:endParaRPr lang="en-US" sz="1400" dirty="0"/>
          </a:p>
          <a:p>
            <a:pPr marL="342900" indent="-342900">
              <a:spcAft>
                <a:spcPts val="600"/>
              </a:spcAft>
              <a:buSzPct val="100000"/>
              <a:buChar char="•"/>
            </a:pPr>
            <a:r>
              <a:rPr lang="en-US" sz="1400" dirty="0">
                <a:solidFill>
                  <a:schemeClr val="tx1"/>
                </a:solidFill>
              </a:rPr>
              <a:t>A demonstration, not a significance test</a:t>
            </a:r>
            <a:endParaRPr lang="en-US" sz="14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rPr>
              <a:t>The dashboard</a:t>
            </a:r>
            <a:endParaRPr lang="en-US" sz="3000" dirty="0"/>
          </a:p>
        </p:txBody>
      </p:sp>
      <p:sp>
        <p:nvSpPr>
          <p:cNvPr id="4" name="takeaway"/>
          <p:cNvSpPr txBox="1"/>
          <p:nvPr/>
        </p:nvSpPr>
        <p:spPr>
          <a:xfrm>
            <a:off x="457200" y="914400"/>
            <a:ext cx="8229600" cy="365760"/>
          </a:xfrm>
          <a:prstGeom prst="rect">
            <a:avLst/>
          </a:prstGeom>
          <a:noFill/>
          <a:ln/>
        </p:spPr>
        <p:txBody>
          <a:bodyPr wrap="square" lIns="0" tIns="0" rIns="0" bIns="0" rtlCol="0" anchor="ctr"/>
          <a:lstStyle/>
          <a:p>
            <a:pPr indent="0" marL="0">
              <a:buNone/>
            </a:pPr>
            <a:r>
              <a:rPr lang="en-US" sz="1600" i="1" dirty="0">
                <a:solidFill>
                  <a:schemeClr val="accent1"/>
                </a:solidFill>
              </a:rPr>
              <a:t>One page per stage, what-if scoring, and the evidence behind every claim</a:t>
            </a:r>
            <a:endParaRPr lang="en-US" sz="1600" dirty="0"/>
          </a:p>
        </p:txBody>
      </p:sp>
      <p:pic>
        <p:nvPicPr>
          <p:cNvPr id="5" name="Image 0" descr="Dashboard overview for poetry with the job graph and predicted durations">    </p:cNvPr>
          <p:cNvPicPr>
            <a:picLocks noChangeAspect="1"/>
          </p:cNvPicPr>
          <p:nvPr/>
        </p:nvPicPr>
        <p:blipFill>
          <a:blip r:embed="rId1"/>
          <a:stretch>
            <a:fillRect/>
          </a:stretch>
        </p:blipFill>
        <p:spPr>
          <a:xfrm>
            <a:off x="457200" y="1417320"/>
            <a:ext cx="4023360" cy="2404872"/>
          </a:xfrm>
          <a:prstGeom prst="rect">
            <a:avLst/>
          </a:prstGeom>
        </p:spPr>
      </p:pic>
      <p:pic>
        <p:nvPicPr>
          <p:cNvPr id="6" name="Image 1" descr="What-if page: impacted jobs after choosing a changed file">    </p:cNvPr>
          <p:cNvPicPr>
            <a:picLocks noChangeAspect="1"/>
          </p:cNvPicPr>
          <p:nvPr/>
        </p:nvPicPr>
        <p:blipFill>
          <a:blip r:embed="rId2"/>
          <a:stretch>
            <a:fillRect/>
          </a:stretch>
        </p:blipFill>
        <p:spPr>
          <a:xfrm>
            <a:off x="4663440" y="1417320"/>
            <a:ext cx="3200400" cy="2404872"/>
          </a:xfrm>
          <a:prstGeom prst="rect">
            <a:avLst/>
          </a:prstGeom>
        </p:spPr>
      </p:pic>
      <p:sp>
        <p:nvSpPr>
          <p:cNvPr id="7" name="Text 2"/>
          <p:cNvSpPr txBox="1"/>
          <p:nvPr/>
        </p:nvSpPr>
        <p:spPr>
          <a:xfrm>
            <a:off x="457200" y="3931920"/>
            <a:ext cx="8229600" cy="8229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Repository selector; a repository without enough history shows why it declined</a:t>
            </a:r>
            <a:endParaRPr lang="en-US" sz="1400" dirty="0"/>
          </a:p>
          <a:p>
            <a:pPr marL="342900" indent="-342900">
              <a:spcAft>
                <a:spcPts val="600"/>
              </a:spcAft>
              <a:buSzPct val="100000"/>
              <a:buChar char="•"/>
            </a:pPr>
            <a:r>
              <a:rPr lang="en-US" sz="1400" dirty="0">
                <a:solidFill>
                  <a:schemeClr val="tx1"/>
                </a:solidFill>
              </a:rPr>
              <a:t>Score shown beside the job's base rate and the observed rate; original vs proposed workflow side by side</a:t>
            </a:r>
            <a:endParaRPr lang="en-US" sz="14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rPr>
              <a:t>Engineering rigour</a:t>
            </a:r>
            <a:endParaRPr lang="en-US" sz="3000" dirty="0"/>
          </a:p>
        </p:txBody>
      </p:sp>
      <p:sp>
        <p:nvSpPr>
          <p:cNvPr id="4" name="takeaway"/>
          <p:cNvSpPr txBox="1"/>
          <p:nvPr/>
        </p:nvSpPr>
        <p:spPr>
          <a:xfrm>
            <a:off x="457200" y="914400"/>
            <a:ext cx="8229600" cy="365760"/>
          </a:xfrm>
          <a:prstGeom prst="rect">
            <a:avLst/>
          </a:prstGeom>
          <a:noFill/>
          <a:ln/>
        </p:spPr>
        <p:txBody>
          <a:bodyPr wrap="square" lIns="0" tIns="0" rIns="0" bIns="0" rtlCol="0" anchor="ctr"/>
          <a:lstStyle/>
          <a:p>
            <a:pPr indent="0" marL="0">
              <a:buNone/>
            </a:pPr>
            <a:r>
              <a:rPr lang="en-US" sz="1600" i="1" dirty="0">
                <a:solidFill>
                  <a:schemeClr val="accent1"/>
                </a:solidFill>
              </a:rPr>
              <a:t>Same inputs, same numbers; the system refuses to guess</a:t>
            </a:r>
            <a:endParaRPr lang="en-US" sz="1600" dirty="0"/>
          </a:p>
        </p:txBody>
      </p:sp>
      <p:sp>
        <p:nvSpPr>
          <p:cNvPr id="5" name="card"/>
          <p:cNvSpPr/>
          <p:nvPr/>
        </p:nvSpPr>
        <p:spPr>
          <a:xfrm>
            <a:off x="457200" y="1463040"/>
            <a:ext cx="4023360" cy="1554480"/>
          </a:xfrm>
          <a:prstGeom prst="roundRect">
            <a:avLst>
              <a:gd name="adj" fmla="val 4706"/>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6" name="Text 3"/>
          <p:cNvSpPr txBox="1"/>
          <p:nvPr/>
        </p:nvSpPr>
        <p:spPr>
          <a:xfrm>
            <a:off x="594360" y="1572768"/>
            <a:ext cx="3749040" cy="777240"/>
          </a:xfrm>
          <a:prstGeom prst="rect">
            <a:avLst/>
          </a:prstGeom>
          <a:noFill/>
          <a:ln/>
        </p:spPr>
        <p:txBody>
          <a:bodyPr wrap="square" lIns="0" tIns="0" rIns="0" bIns="0" rtlCol="0" anchor="ctr"/>
          <a:lstStyle/>
          <a:p>
            <a:pPr indent="0" marL="0">
              <a:buNone/>
            </a:pPr>
            <a:r>
              <a:rPr lang="en-US" sz="2600" b="1" dirty="0">
                <a:solidFill>
                  <a:schemeClr val="accent1"/>
                </a:solidFill>
                <a:latin typeface="Cambria" pitchFamily="34" charset="0"/>
                <a:ea typeface="Cambria" pitchFamily="34" charset="-122"/>
                <a:cs typeface="Cambria" pitchFamily="34" charset="-120"/>
              </a:rPr>
              <a:t>Reproducible</a:t>
            </a:r>
            <a:endParaRPr lang="en-US" sz="2600" dirty="0"/>
          </a:p>
        </p:txBody>
      </p:sp>
      <p:sp>
        <p:nvSpPr>
          <p:cNvPr id="7" name="Text 4"/>
          <p:cNvSpPr txBox="1"/>
          <p:nvPr/>
        </p:nvSpPr>
        <p:spPr>
          <a:xfrm>
            <a:off x="594360" y="2364638"/>
            <a:ext cx="3749040" cy="590702"/>
          </a:xfrm>
          <a:prstGeom prst="rect">
            <a:avLst/>
          </a:prstGeom>
          <a:noFill/>
          <a:ln/>
        </p:spPr>
        <p:txBody>
          <a:bodyPr wrap="square" lIns="0" tIns="0" rIns="0" bIns="0" rtlCol="0" anchor="t"/>
          <a:lstStyle/>
          <a:p>
            <a:pPr indent="0" marL="0">
              <a:buNone/>
            </a:pPr>
            <a:r>
              <a:rPr lang="en-US" sz="1200" dirty="0">
                <a:solidFill>
                  <a:schemeClr val="tx1"/>
                </a:solidFill>
              </a:rPr>
              <a:t>Scoring time is an explicit input; two full runs were byte-identical</a:t>
            </a:r>
            <a:endParaRPr lang="en-US" sz="1200" dirty="0"/>
          </a:p>
        </p:txBody>
      </p:sp>
      <p:sp>
        <p:nvSpPr>
          <p:cNvPr id="8" name="card"/>
          <p:cNvSpPr/>
          <p:nvPr/>
        </p:nvSpPr>
        <p:spPr>
          <a:xfrm>
            <a:off x="4663440" y="1463040"/>
            <a:ext cx="4023360" cy="1554480"/>
          </a:xfrm>
          <a:prstGeom prst="roundRect">
            <a:avLst>
              <a:gd name="adj" fmla="val 4706"/>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9" name="Text 6"/>
          <p:cNvSpPr txBox="1"/>
          <p:nvPr/>
        </p:nvSpPr>
        <p:spPr>
          <a:xfrm>
            <a:off x="4800600" y="1572768"/>
            <a:ext cx="3749040" cy="777240"/>
          </a:xfrm>
          <a:prstGeom prst="rect">
            <a:avLst/>
          </a:prstGeom>
          <a:noFill/>
          <a:ln/>
        </p:spPr>
        <p:txBody>
          <a:bodyPr wrap="square" lIns="0" tIns="0" rIns="0" bIns="0" rtlCol="0" anchor="ctr"/>
          <a:lstStyle/>
          <a:p>
            <a:pPr indent="0" marL="0">
              <a:buNone/>
            </a:pPr>
            <a:r>
              <a:rPr lang="en-US" sz="2600" b="1" dirty="0">
                <a:solidFill>
                  <a:schemeClr val="accent1"/>
                </a:solidFill>
                <a:latin typeface="Cambria" pitchFamily="34" charset="0"/>
                <a:ea typeface="Cambria" pitchFamily="34" charset="-122"/>
                <a:cs typeface="Cambria" pitchFamily="34" charset="-120"/>
              </a:rPr>
              <a:t>428 tests</a:t>
            </a:r>
            <a:endParaRPr lang="en-US" sz="2600" dirty="0"/>
          </a:p>
        </p:txBody>
      </p:sp>
      <p:sp>
        <p:nvSpPr>
          <p:cNvPr id="10" name="Text 7"/>
          <p:cNvSpPr txBox="1"/>
          <p:nvPr/>
        </p:nvSpPr>
        <p:spPr>
          <a:xfrm>
            <a:off x="4800600" y="2364638"/>
            <a:ext cx="3749040" cy="590702"/>
          </a:xfrm>
          <a:prstGeom prst="rect">
            <a:avLst/>
          </a:prstGeom>
          <a:noFill/>
          <a:ln/>
        </p:spPr>
        <p:txBody>
          <a:bodyPr wrap="square" lIns="0" tIns="0" rIns="0" bIns="0" rtlCol="0" anchor="t"/>
          <a:lstStyle/>
          <a:p>
            <a:pPr indent="0" marL="0">
              <a:buNone/>
            </a:pPr>
            <a:r>
              <a:rPr lang="en-US" sz="1200" dirty="0">
                <a:solidFill>
                  <a:schemeClr val="tx1"/>
                </a:solidFill>
              </a:rPr>
              <a:t>427 pass, 1 skipped; lint clean; fixtures are data, not results</a:t>
            </a:r>
            <a:endParaRPr lang="en-US" sz="1200" dirty="0"/>
          </a:p>
        </p:txBody>
      </p:sp>
      <p:sp>
        <p:nvSpPr>
          <p:cNvPr id="11" name="card"/>
          <p:cNvSpPr/>
          <p:nvPr/>
        </p:nvSpPr>
        <p:spPr>
          <a:xfrm>
            <a:off x="457200" y="3200400"/>
            <a:ext cx="4023360" cy="1463040"/>
          </a:xfrm>
          <a:prstGeom prst="roundRect">
            <a:avLst>
              <a:gd name="adj" fmla="val 5000"/>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2" name="Text 9"/>
          <p:cNvSpPr txBox="1"/>
          <p:nvPr/>
        </p:nvSpPr>
        <p:spPr>
          <a:xfrm>
            <a:off x="594360" y="3310128"/>
            <a:ext cx="3749040" cy="731520"/>
          </a:xfrm>
          <a:prstGeom prst="rect">
            <a:avLst/>
          </a:prstGeom>
          <a:noFill/>
          <a:ln/>
        </p:spPr>
        <p:txBody>
          <a:bodyPr wrap="square" lIns="0" tIns="0" rIns="0" bIns="0" rtlCol="0" anchor="ctr"/>
          <a:lstStyle/>
          <a:p>
            <a:pPr indent="0" marL="0">
              <a:buNone/>
            </a:pPr>
            <a:r>
              <a:rPr lang="en-US" sz="2600" b="1" dirty="0">
                <a:solidFill>
                  <a:schemeClr val="accent1"/>
                </a:solidFill>
                <a:latin typeface="Cambria" pitchFamily="34" charset="0"/>
                <a:ea typeface="Cambria" pitchFamily="34" charset="-122"/>
                <a:cs typeface="Cambria" pitchFamily="34" charset="-120"/>
              </a:rPr>
              <a:t>Tamper-evident</a:t>
            </a:r>
            <a:endParaRPr lang="en-US" sz="2600" dirty="0"/>
          </a:p>
        </p:txBody>
      </p:sp>
      <p:sp>
        <p:nvSpPr>
          <p:cNvPr id="13" name="Text 10"/>
          <p:cNvSpPr txBox="1"/>
          <p:nvPr/>
        </p:nvSpPr>
        <p:spPr>
          <a:xfrm>
            <a:off x="594360" y="4048963"/>
            <a:ext cx="3749040" cy="555955"/>
          </a:xfrm>
          <a:prstGeom prst="rect">
            <a:avLst/>
          </a:prstGeom>
          <a:noFill/>
          <a:ln/>
        </p:spPr>
        <p:txBody>
          <a:bodyPr wrap="square" lIns="0" tIns="0" rIns="0" bIns="0" rtlCol="0" anchor="t"/>
          <a:lstStyle/>
          <a:p>
            <a:pPr indent="0" marL="0">
              <a:buNone/>
            </a:pPr>
            <a:r>
              <a:rPr lang="en-US" sz="1200" dirty="0">
                <a:solidFill>
                  <a:schemeClr val="tx1"/>
                </a:solidFill>
              </a:rPr>
              <a:t>Live predictions are hash-chained; editing one breaks the chain</a:t>
            </a:r>
            <a:endParaRPr lang="en-US" sz="1200" dirty="0"/>
          </a:p>
        </p:txBody>
      </p:sp>
      <p:sp>
        <p:nvSpPr>
          <p:cNvPr id="14" name="card"/>
          <p:cNvSpPr/>
          <p:nvPr/>
        </p:nvSpPr>
        <p:spPr>
          <a:xfrm>
            <a:off x="4663440" y="3200400"/>
            <a:ext cx="4023360" cy="1463040"/>
          </a:xfrm>
          <a:prstGeom prst="roundRect">
            <a:avLst>
              <a:gd name="adj" fmla="val 5000"/>
            </a:avLst>
          </a:prstGeom>
          <a:solidFill>
            <a:schemeClr val="bg2"/>
          </a:solidFill>
          <a:ln w="12700">
            <a:solidFill>
              <a:schemeClr val="bg2"/>
            </a:solidFill>
            <a:prstDash val="solid"/>
          </a:ln>
          <a:effectLst>
            <a:outerShdw sx="100000" sy="100000" kx="0" ky="0" algn="bl" rotWithShape="0" blurRad="76200" dist="25400" dir="5400000">
              <a:srgbClr val="000000">
                <a:alpha val="12000"/>
              </a:srgbClr>
            </a:outerShdw>
          </a:effectLst>
        </p:spPr>
      </p:sp>
      <p:sp>
        <p:nvSpPr>
          <p:cNvPr id="15" name="Text 12"/>
          <p:cNvSpPr txBox="1"/>
          <p:nvPr/>
        </p:nvSpPr>
        <p:spPr>
          <a:xfrm>
            <a:off x="4800600" y="3310128"/>
            <a:ext cx="3749040" cy="731520"/>
          </a:xfrm>
          <a:prstGeom prst="rect">
            <a:avLst/>
          </a:prstGeom>
          <a:noFill/>
          <a:ln/>
        </p:spPr>
        <p:txBody>
          <a:bodyPr wrap="square" lIns="0" tIns="0" rIns="0" bIns="0" rtlCol="0" anchor="ctr"/>
          <a:lstStyle/>
          <a:p>
            <a:pPr indent="0" marL="0">
              <a:buNone/>
            </a:pPr>
            <a:r>
              <a:rPr lang="en-US" sz="2600" b="1" dirty="0">
                <a:solidFill>
                  <a:schemeClr val="accent1"/>
                </a:solidFill>
                <a:latin typeface="Cambria" pitchFamily="34" charset="0"/>
                <a:ea typeface="Cambria" pitchFamily="34" charset="-122"/>
                <a:cs typeface="Cambria" pitchFamily="34" charset="-120"/>
              </a:rPr>
              <a:t>Refuses to guess</a:t>
            </a:r>
            <a:endParaRPr lang="en-US" sz="2600" dirty="0"/>
          </a:p>
        </p:txBody>
      </p:sp>
      <p:sp>
        <p:nvSpPr>
          <p:cNvPr id="16" name="Text 13"/>
          <p:cNvSpPr txBox="1"/>
          <p:nvPr/>
        </p:nvSpPr>
        <p:spPr>
          <a:xfrm>
            <a:off x="4800600" y="4048963"/>
            <a:ext cx="3749040" cy="555955"/>
          </a:xfrm>
          <a:prstGeom prst="rect">
            <a:avLst/>
          </a:prstGeom>
          <a:noFill/>
          <a:ln/>
        </p:spPr>
        <p:txBody>
          <a:bodyPr wrap="square" lIns="0" tIns="0" rIns="0" bIns="0" rtlCol="0" anchor="t"/>
          <a:lstStyle/>
          <a:p>
            <a:pPr indent="0" marL="0">
              <a:buNone/>
            </a:pPr>
            <a:r>
              <a:rPr lang="en-US" sz="1200" dirty="0">
                <a:solidFill>
                  <a:schemeClr val="tx1"/>
                </a:solidFill>
              </a:rPr>
              <a:t>Declines when real history is too thin: 3 of 9 repositories now</a:t>
            </a:r>
            <a:endParaRPr lang="en-US" sz="12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rPr>
              <a:t>What is still open, and when</a:t>
            </a:r>
            <a:endParaRPr lang="en-US" sz="3000" dirty="0"/>
          </a:p>
        </p:txBody>
      </p:sp>
      <p:sp>
        <p:nvSpPr>
          <p:cNvPr id="4" name="takeaway"/>
          <p:cNvSpPr txBox="1"/>
          <p:nvPr/>
        </p:nvSpPr>
        <p:spPr>
          <a:xfrm>
            <a:off x="457200" y="914400"/>
            <a:ext cx="8229600" cy="365760"/>
          </a:xfrm>
          <a:prstGeom prst="rect">
            <a:avLst/>
          </a:prstGeom>
          <a:noFill/>
          <a:ln/>
        </p:spPr>
        <p:txBody>
          <a:bodyPr wrap="square" lIns="0" tIns="0" rIns="0" bIns="0" rtlCol="0" anchor="ctr"/>
          <a:lstStyle/>
          <a:p>
            <a:pPr indent="0" marL="0">
              <a:buNone/>
            </a:pPr>
            <a:r>
              <a:rPr lang="en-US" sz="1600" i="1" dirty="0">
                <a:solidFill>
                  <a:schemeClr val="accent1"/>
                </a:solidFill>
              </a:rPr>
              <a:t>Final verdicts are fixed by the pre-registered rules</a:t>
            </a:r>
            <a:endParaRPr lang="en-US" sz="1600" dirty="0"/>
          </a:p>
        </p:txBody>
      </p:sp>
      <p:sp>
        <p:nvSpPr>
          <p:cNvPr id="5" name="date-chip"/>
          <p:cNvSpPr/>
          <p:nvPr/>
        </p:nvSpPr>
        <p:spPr>
          <a:xfrm>
            <a:off x="457200" y="1463040"/>
            <a:ext cx="914400" cy="594360"/>
          </a:xfrm>
          <a:prstGeom prst="roundRect">
            <a:avLst>
              <a:gd name="adj" fmla="val 12308"/>
            </a:avLst>
          </a:prstGeom>
          <a:solidFill>
            <a:schemeClr val="accent1"/>
          </a:solidFill>
          <a:ln w="12700">
            <a:solidFill>
              <a:schemeClr val="accent1"/>
            </a:solidFill>
            <a:prstDash val="solid"/>
          </a:ln>
        </p:spPr>
      </p:sp>
      <p:sp>
        <p:nvSpPr>
          <p:cNvPr id="6" name="Text 3"/>
          <p:cNvSpPr txBox="1"/>
          <p:nvPr/>
        </p:nvSpPr>
        <p:spPr>
          <a:xfrm>
            <a:off x="457200" y="1463040"/>
            <a:ext cx="914400" cy="594360"/>
          </a:xfrm>
          <a:prstGeom prst="rect">
            <a:avLst/>
          </a:prstGeom>
          <a:noFill/>
          <a:ln/>
        </p:spPr>
        <p:txBody>
          <a:bodyPr wrap="square" lIns="0" tIns="0" rIns="0" bIns="0" rtlCol="0" anchor="ctr"/>
          <a:lstStyle/>
          <a:p>
            <a:pPr algn="ctr" indent="0" marL="0">
              <a:buNone/>
            </a:pPr>
            <a:r>
              <a:rPr lang="en-US" sz="1400" b="1" dirty="0">
                <a:solidFill>
                  <a:schemeClr val="bg1"/>
                </a:solidFill>
              </a:rPr>
              <a:t>15 Oct</a:t>
            </a:r>
            <a:endParaRPr lang="en-US" sz="1400" dirty="0"/>
          </a:p>
        </p:txBody>
      </p:sp>
      <p:sp>
        <p:nvSpPr>
          <p:cNvPr id="7" name="Text 4"/>
          <p:cNvSpPr txBox="1"/>
          <p:nvPr/>
        </p:nvSpPr>
        <p:spPr>
          <a:xfrm>
            <a:off x="1508760" y="1463040"/>
            <a:ext cx="3566160" cy="594360"/>
          </a:xfrm>
          <a:prstGeom prst="rect">
            <a:avLst/>
          </a:prstGeom>
          <a:noFill/>
          <a:ln/>
        </p:spPr>
        <p:txBody>
          <a:bodyPr wrap="square" lIns="0" tIns="0" rIns="0" bIns="0" rtlCol="0" anchor="ctr"/>
          <a:lstStyle/>
          <a:p>
            <a:pPr indent="0" marL="0">
              <a:buNone/>
            </a:pPr>
            <a:r>
              <a:rPr lang="en-US" sz="1400" dirty="0">
                <a:solidFill>
                  <a:schemeClr val="tx1"/>
                </a:solidFill>
              </a:rPr>
              <a:t>Automated refresh of the interim figures in this deck</a:t>
            </a:r>
            <a:endParaRPr lang="en-US" sz="1400" dirty="0"/>
          </a:p>
        </p:txBody>
      </p:sp>
      <p:sp>
        <p:nvSpPr>
          <p:cNvPr id="8" name="date-chip"/>
          <p:cNvSpPr/>
          <p:nvPr/>
        </p:nvSpPr>
        <p:spPr>
          <a:xfrm>
            <a:off x="457200" y="2240280"/>
            <a:ext cx="914400" cy="594360"/>
          </a:xfrm>
          <a:prstGeom prst="roundRect">
            <a:avLst>
              <a:gd name="adj" fmla="val 12308"/>
            </a:avLst>
          </a:prstGeom>
          <a:solidFill>
            <a:schemeClr val="accent1"/>
          </a:solidFill>
          <a:ln w="12700">
            <a:solidFill>
              <a:schemeClr val="accent1"/>
            </a:solidFill>
            <a:prstDash val="solid"/>
          </a:ln>
        </p:spPr>
      </p:sp>
      <p:sp>
        <p:nvSpPr>
          <p:cNvPr id="9" name="Text 6"/>
          <p:cNvSpPr txBox="1"/>
          <p:nvPr/>
        </p:nvSpPr>
        <p:spPr>
          <a:xfrm>
            <a:off x="457200" y="2240280"/>
            <a:ext cx="914400" cy="594360"/>
          </a:xfrm>
          <a:prstGeom prst="rect">
            <a:avLst/>
          </a:prstGeom>
          <a:noFill/>
          <a:ln/>
        </p:spPr>
        <p:txBody>
          <a:bodyPr wrap="square" lIns="0" tIns="0" rIns="0" bIns="0" rtlCol="0" anchor="ctr"/>
          <a:lstStyle/>
          <a:p>
            <a:pPr algn="ctr" indent="0" marL="0">
              <a:buNone/>
            </a:pPr>
            <a:r>
              <a:rPr lang="en-US" sz="1400" b="1" dirty="0">
                <a:solidFill>
                  <a:schemeClr val="bg1"/>
                </a:solidFill>
              </a:rPr>
              <a:t>19 Oct</a:t>
            </a:r>
            <a:endParaRPr lang="en-US" sz="1400" dirty="0"/>
          </a:p>
        </p:txBody>
      </p:sp>
      <p:sp>
        <p:nvSpPr>
          <p:cNvPr id="10" name="Text 7"/>
          <p:cNvSpPr txBox="1"/>
          <p:nvPr/>
        </p:nvSpPr>
        <p:spPr>
          <a:xfrm>
            <a:off x="1508760" y="2240280"/>
            <a:ext cx="3566160" cy="594360"/>
          </a:xfrm>
          <a:prstGeom prst="rect">
            <a:avLst/>
          </a:prstGeom>
          <a:noFill/>
          <a:ln/>
        </p:spPr>
        <p:txBody>
          <a:bodyPr wrap="square" lIns="0" tIns="0" rIns="0" bIns="0" rtlCol="0" anchor="ctr"/>
          <a:lstStyle/>
          <a:p>
            <a:pPr indent="0" marL="0">
              <a:buNone/>
            </a:pPr>
            <a:r>
              <a:rPr lang="en-US" sz="1400" dirty="0">
                <a:solidFill>
                  <a:schemeClr val="tx1"/>
                </a:solidFill>
              </a:rPr>
              <a:t>Live test: final evaluation of the ledgers</a:t>
            </a:r>
            <a:endParaRPr lang="en-US" sz="1400" dirty="0"/>
          </a:p>
        </p:txBody>
      </p:sp>
      <p:sp>
        <p:nvSpPr>
          <p:cNvPr id="11" name="date-chip"/>
          <p:cNvSpPr/>
          <p:nvPr/>
        </p:nvSpPr>
        <p:spPr>
          <a:xfrm>
            <a:off x="457200" y="3017520"/>
            <a:ext cx="914400" cy="594360"/>
          </a:xfrm>
          <a:prstGeom prst="roundRect">
            <a:avLst>
              <a:gd name="adj" fmla="val 12308"/>
            </a:avLst>
          </a:prstGeom>
          <a:solidFill>
            <a:schemeClr val="accent1"/>
          </a:solidFill>
          <a:ln w="12700">
            <a:solidFill>
              <a:schemeClr val="accent1"/>
            </a:solidFill>
            <a:prstDash val="solid"/>
          </a:ln>
        </p:spPr>
      </p:sp>
      <p:sp>
        <p:nvSpPr>
          <p:cNvPr id="12" name="Text 9"/>
          <p:cNvSpPr txBox="1"/>
          <p:nvPr/>
        </p:nvSpPr>
        <p:spPr>
          <a:xfrm>
            <a:off x="457200" y="3017520"/>
            <a:ext cx="914400" cy="594360"/>
          </a:xfrm>
          <a:prstGeom prst="rect">
            <a:avLst/>
          </a:prstGeom>
          <a:noFill/>
          <a:ln/>
        </p:spPr>
        <p:txBody>
          <a:bodyPr wrap="square" lIns="0" tIns="0" rIns="0" bIns="0" rtlCol="0" anchor="ctr"/>
          <a:lstStyle/>
          <a:p>
            <a:pPr algn="ctr" indent="0" marL="0">
              <a:buNone/>
            </a:pPr>
            <a:r>
              <a:rPr lang="en-US" sz="1400" b="1" dirty="0">
                <a:solidFill>
                  <a:schemeClr val="bg1"/>
                </a:solidFill>
              </a:rPr>
              <a:t>21 Oct</a:t>
            </a:r>
            <a:endParaRPr lang="en-US" sz="1400" dirty="0"/>
          </a:p>
        </p:txBody>
      </p:sp>
      <p:sp>
        <p:nvSpPr>
          <p:cNvPr id="13" name="Text 10"/>
          <p:cNvSpPr txBox="1"/>
          <p:nvPr/>
        </p:nvSpPr>
        <p:spPr>
          <a:xfrm>
            <a:off x="1508760" y="3017520"/>
            <a:ext cx="3566160" cy="594360"/>
          </a:xfrm>
          <a:prstGeom prst="rect">
            <a:avLst/>
          </a:prstGeom>
          <a:noFill/>
          <a:ln/>
        </p:spPr>
        <p:txBody>
          <a:bodyPr wrap="square" lIns="0" tIns="0" rIns="0" bIns="0" rtlCol="0" anchor="ctr"/>
          <a:lstStyle/>
          <a:p>
            <a:pPr indent="0" marL="0">
              <a:buNone/>
            </a:pPr>
            <a:r>
              <a:rPr lang="en-US" sz="1400" dirty="0">
                <a:solidFill>
                  <a:schemeClr val="tx1"/>
                </a:solidFill>
              </a:rPr>
              <a:t>Logistic default: fresh-data verdict (interim: 2 judged, both pass)</a:t>
            </a:r>
            <a:endParaRPr lang="en-US" sz="1400" dirty="0"/>
          </a:p>
        </p:txBody>
      </p:sp>
      <p:sp>
        <p:nvSpPr>
          <p:cNvPr id="14" name="date-chip"/>
          <p:cNvSpPr/>
          <p:nvPr/>
        </p:nvSpPr>
        <p:spPr>
          <a:xfrm>
            <a:off x="457200" y="3794760"/>
            <a:ext cx="914400" cy="594360"/>
          </a:xfrm>
          <a:prstGeom prst="roundRect">
            <a:avLst>
              <a:gd name="adj" fmla="val 12308"/>
            </a:avLst>
          </a:prstGeom>
          <a:solidFill>
            <a:schemeClr val="accent1"/>
          </a:solidFill>
          <a:ln w="12700">
            <a:solidFill>
              <a:schemeClr val="accent1"/>
            </a:solidFill>
            <a:prstDash val="solid"/>
          </a:ln>
        </p:spPr>
      </p:sp>
      <p:sp>
        <p:nvSpPr>
          <p:cNvPr id="15" name="Text 12"/>
          <p:cNvSpPr txBox="1"/>
          <p:nvPr/>
        </p:nvSpPr>
        <p:spPr>
          <a:xfrm>
            <a:off x="457200" y="3794760"/>
            <a:ext cx="914400" cy="594360"/>
          </a:xfrm>
          <a:prstGeom prst="rect">
            <a:avLst/>
          </a:prstGeom>
          <a:noFill/>
          <a:ln/>
        </p:spPr>
        <p:txBody>
          <a:bodyPr wrap="square" lIns="0" tIns="0" rIns="0" bIns="0" rtlCol="0" anchor="ctr"/>
          <a:lstStyle/>
          <a:p>
            <a:pPr algn="ctr" indent="0" marL="0">
              <a:buNone/>
            </a:pPr>
            <a:r>
              <a:rPr lang="en-US" sz="1400" b="1" dirty="0">
                <a:solidFill>
                  <a:schemeClr val="bg1"/>
                </a:solidFill>
              </a:rPr>
              <a:t>26 Oct</a:t>
            </a:r>
            <a:endParaRPr lang="en-US" sz="1400" dirty="0"/>
          </a:p>
        </p:txBody>
      </p:sp>
      <p:sp>
        <p:nvSpPr>
          <p:cNvPr id="16" name="Text 13"/>
          <p:cNvSpPr txBox="1"/>
          <p:nvPr/>
        </p:nvSpPr>
        <p:spPr>
          <a:xfrm>
            <a:off x="1508760" y="3794760"/>
            <a:ext cx="3566160" cy="594360"/>
          </a:xfrm>
          <a:prstGeom prst="rect">
            <a:avLst/>
          </a:prstGeom>
          <a:noFill/>
          <a:ln/>
        </p:spPr>
        <p:txBody>
          <a:bodyPr wrap="square" lIns="0" tIns="0" rIns="0" bIns="0" rtlCol="0" anchor="ctr"/>
          <a:lstStyle/>
          <a:p>
            <a:pPr indent="0" marL="0">
              <a:buNone/>
            </a:pPr>
            <a:r>
              <a:rPr lang="en-US" sz="1400" dirty="0">
                <a:solidFill>
                  <a:schemeClr val="tx1"/>
                </a:solidFill>
              </a:rPr>
              <a:t>Pooled model: fresh-data verdict (interim: would be rejected)</a:t>
            </a:r>
            <a:endParaRPr lang="en-US" sz="1400" dirty="0"/>
          </a:p>
        </p:txBody>
      </p:sp>
      <p:sp>
        <p:nvSpPr>
          <p:cNvPr id="17" name="Text 14"/>
          <p:cNvSpPr txBox="1"/>
          <p:nvPr/>
        </p:nvSpPr>
        <p:spPr>
          <a:xfrm>
            <a:off x="5486400" y="1463040"/>
            <a:ext cx="3200400" cy="274320"/>
          </a:xfrm>
          <a:prstGeom prst="rect">
            <a:avLst/>
          </a:prstGeom>
          <a:noFill/>
          <a:ln/>
        </p:spPr>
        <p:txBody>
          <a:bodyPr wrap="square" lIns="0" tIns="0" rIns="0" bIns="0" rtlCol="0" anchor="ctr"/>
          <a:lstStyle/>
          <a:p>
            <a:pPr indent="0" marL="0">
              <a:buNone/>
            </a:pPr>
            <a:r>
              <a:rPr lang="en-US" sz="1500" b="1" dirty="0">
                <a:solidFill>
                  <a:schemeClr val="tx1"/>
                </a:solidFill>
              </a:rPr>
              <a:t>Limits we state ourselves</a:t>
            </a:r>
            <a:endParaRPr lang="en-US" sz="1500" dirty="0"/>
          </a:p>
        </p:txBody>
      </p:sp>
      <p:sp>
        <p:nvSpPr>
          <p:cNvPr id="18" name="Text 15"/>
          <p:cNvSpPr txBox="1"/>
          <p:nvPr/>
        </p:nvSpPr>
        <p:spPr>
          <a:xfrm>
            <a:off x="5486400" y="1828800"/>
            <a:ext cx="3200400" cy="28346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Nine repositories, 5-7 weeks of history each</a:t>
            </a:r>
            <a:endParaRPr lang="en-US" sz="1400" dirty="0"/>
          </a:p>
          <a:p>
            <a:pPr marL="342900" indent="-342900">
              <a:spcAft>
                <a:spcPts val="600"/>
              </a:spcAft>
              <a:buSzPct val="100000"/>
              <a:buChar char="•"/>
            </a:pPr>
            <a:r>
              <a:rPr lang="en-US" sz="1400" dirty="0">
                <a:solidFill>
                  <a:schemeClr val="tx1"/>
                </a:solidFill>
              </a:rPr>
              <a:t>Few failures in several repositories: wide intervals</a:t>
            </a:r>
            <a:endParaRPr lang="en-US" sz="1400" dirty="0"/>
          </a:p>
          <a:p>
            <a:pPr marL="342900" indent="-342900">
              <a:spcAft>
                <a:spcPts val="600"/>
              </a:spcAft>
              <a:buSzPct val="100000"/>
              <a:buChar char="•"/>
            </a:pPr>
            <a:r>
              <a:rPr lang="en-US" sz="1400" dirty="0">
                <a:solidFill>
                  <a:schemeClr val="tx1"/>
                </a:solidFill>
              </a:rPr>
              <a:t>Relaxed gates measured on one pipeline only</a:t>
            </a:r>
            <a:endParaRPr lang="en-US" sz="1400" dirty="0"/>
          </a:p>
          <a:p>
            <a:pPr marL="342900" indent="-342900">
              <a:spcAft>
                <a:spcPts val="600"/>
              </a:spcAft>
              <a:buSzPct val="100000"/>
              <a:buChar char="•"/>
            </a:pPr>
            <a:r>
              <a:rPr lang="en-US" sz="1400" dirty="0">
                <a:solidFill>
                  <a:schemeClr val="tx1"/>
                </a:solidFill>
              </a:rPr>
              <a:t>Triage not checked against developer actions</a:t>
            </a:r>
            <a:endParaRPr lang="en-US" sz="1400" dirty="0"/>
          </a:p>
          <a:p>
            <a:pPr marL="342900" indent="-342900">
              <a:spcAft>
                <a:spcPts val="600"/>
              </a:spcAft>
              <a:buSzPct val="100000"/>
              <a:buChar char="•"/>
            </a:pPr>
            <a:r>
              <a:rPr lang="en-US" sz="1400" dirty="0">
                <a:solidFill>
                  <a:schemeClr val="tx1"/>
                </a:solidFill>
              </a:rPr>
              <a:t>Live sample is small</a:t>
            </a:r>
            <a:endParaRPr lang="en-US" sz="14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bg1"/>
                </a:solidFill>
              </a:rPr>
              <a:t>What we claim, and what we do not</a:t>
            </a:r>
            <a:endParaRPr lang="en-US" sz="3000" dirty="0"/>
          </a:p>
        </p:txBody>
      </p:sp>
      <p:sp>
        <p:nvSpPr>
          <p:cNvPr id="4" name="Text 1"/>
          <p:cNvSpPr txBox="1"/>
          <p:nvPr/>
        </p:nvSpPr>
        <p:spPr>
          <a:xfrm>
            <a:off x="457200" y="1097280"/>
            <a:ext cx="3840480" cy="320040"/>
          </a:xfrm>
          <a:prstGeom prst="rect">
            <a:avLst/>
          </a:prstGeom>
          <a:noFill/>
          <a:ln/>
        </p:spPr>
        <p:txBody>
          <a:bodyPr wrap="square" lIns="0" tIns="0" rIns="0" bIns="0" rtlCol="0" anchor="ctr"/>
          <a:lstStyle/>
          <a:p>
            <a:pPr indent="0" marL="0">
              <a:buNone/>
            </a:pPr>
            <a:r>
              <a:rPr lang="en-US" sz="1800" b="1" dirty="0">
                <a:solidFill>
                  <a:schemeClr val="accent2"/>
                </a:solidFill>
              </a:rPr>
              <a:t>We claim</a:t>
            </a:r>
            <a:endParaRPr lang="en-US" sz="1800" dirty="0"/>
          </a:p>
        </p:txBody>
      </p:sp>
      <p:sp>
        <p:nvSpPr>
          <p:cNvPr id="5" name="Text 2"/>
          <p:cNvSpPr txBox="1"/>
          <p:nvPr/>
        </p:nvSpPr>
        <p:spPr>
          <a:xfrm>
            <a:off x="457200" y="1463040"/>
            <a:ext cx="3840480" cy="17373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bg1"/>
                </a:solidFill>
              </a:rPr>
              <a:t>A rigorous evaluation method with pre-registered tests</a:t>
            </a:r>
            <a:endParaRPr lang="en-US" sz="1400" dirty="0"/>
          </a:p>
          <a:p>
            <a:pPr marL="342900" indent="-342900">
              <a:spcAft>
                <a:spcPts val="600"/>
              </a:spcAft>
              <a:buSzPct val="100000"/>
              <a:buChar char="•"/>
            </a:pPr>
            <a:r>
              <a:rPr lang="en-US" sz="1400" dirty="0">
                <a:solidFill>
                  <a:schemeClr val="bg1"/>
                </a:solidFill>
              </a:rPr>
              <a:t>Honest negative and mixed results, with data</a:t>
            </a:r>
            <a:endParaRPr lang="en-US" sz="1400" dirty="0"/>
          </a:p>
          <a:p>
            <a:pPr marL="342900" indent="-342900">
              <a:spcAft>
                <a:spcPts val="600"/>
              </a:spcAft>
              <a:buSzPct val="100000"/>
              <a:buChar char="•"/>
            </a:pPr>
            <a:r>
              <a:rPr lang="en-US" sz="1400" dirty="0">
                <a:solidFill>
                  <a:schemeClr val="bg1"/>
                </a:solidFill>
              </a:rPr>
              <a:t>A working, tested pipeline that refuses to guess</a:t>
            </a:r>
            <a:endParaRPr lang="en-US" sz="1400" dirty="0"/>
          </a:p>
          <a:p>
            <a:pPr marL="342900" indent="-342900">
              <a:spcAft>
                <a:spcPts val="600"/>
              </a:spcAft>
              <a:buSzPct val="100000"/>
              <a:buChar char="•"/>
            </a:pPr>
            <a:r>
              <a:rPr lang="en-US" sz="1400" dirty="0">
                <a:solidFill>
                  <a:schemeClr val="bg1"/>
                </a:solidFill>
              </a:rPr>
              <a:t>A failure triage from real outcomes</a:t>
            </a:r>
            <a:endParaRPr lang="en-US" sz="1400" dirty="0"/>
          </a:p>
        </p:txBody>
      </p:sp>
      <p:sp>
        <p:nvSpPr>
          <p:cNvPr id="6" name="Text 3"/>
          <p:cNvSpPr txBox="1"/>
          <p:nvPr/>
        </p:nvSpPr>
        <p:spPr>
          <a:xfrm>
            <a:off x="4572000" y="1097280"/>
            <a:ext cx="4114800" cy="320040"/>
          </a:xfrm>
          <a:prstGeom prst="rect">
            <a:avLst/>
          </a:prstGeom>
          <a:noFill/>
          <a:ln/>
        </p:spPr>
        <p:txBody>
          <a:bodyPr wrap="square" lIns="0" tIns="0" rIns="0" bIns="0" rtlCol="0" anchor="ctr"/>
          <a:lstStyle/>
          <a:p>
            <a:pPr indent="0" marL="0">
              <a:buNone/>
            </a:pPr>
            <a:r>
              <a:rPr lang="en-US" sz="1800" b="1" dirty="0">
                <a:solidFill>
                  <a:srgbClr val="F4A6A0"/>
                </a:solidFill>
              </a:rPr>
              <a:t>We do not claim</a:t>
            </a:r>
            <a:endParaRPr lang="en-US" sz="1800" dirty="0"/>
          </a:p>
        </p:txBody>
      </p:sp>
      <p:sp>
        <p:nvSpPr>
          <p:cNvPr id="7" name="Text 4"/>
          <p:cNvSpPr txBox="1"/>
          <p:nvPr/>
        </p:nvSpPr>
        <p:spPr>
          <a:xfrm>
            <a:off x="4572000" y="1463040"/>
            <a:ext cx="4114800" cy="17373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bg1"/>
                </a:solidFill>
              </a:rPr>
              <a:t>A general speed-up of CI</a:t>
            </a:r>
            <a:endParaRPr lang="en-US" sz="1400" dirty="0"/>
          </a:p>
          <a:p>
            <a:pPr marL="342900" indent="-342900">
              <a:spcAft>
                <a:spcPts val="600"/>
              </a:spcAft>
              <a:buSzPct val="100000"/>
              <a:buChar char="•"/>
            </a:pPr>
            <a:r>
              <a:rPr lang="en-US" sz="1400" dirty="0">
                <a:solidFill>
                  <a:schemeClr val="bg1"/>
                </a:solidFill>
              </a:rPr>
              <a:t>Calibrated failure probabilities</a:t>
            </a:r>
            <a:endParaRPr lang="en-US" sz="1400" dirty="0"/>
          </a:p>
          <a:p>
            <a:pPr marL="342900" indent="-342900">
              <a:spcAft>
                <a:spcPts val="600"/>
              </a:spcAft>
              <a:buSzPct val="100000"/>
              <a:buChar char="•"/>
            </a:pPr>
            <a:r>
              <a:rPr lang="en-US" sz="1400" dirty="0">
                <a:solidFill>
                  <a:schemeClr val="bg1"/>
                </a:solidFill>
              </a:rPr>
              <a:t>That the pooled model works</a:t>
            </a:r>
            <a:endParaRPr lang="en-US" sz="1400" dirty="0"/>
          </a:p>
          <a:p>
            <a:pPr marL="342900" indent="-342900">
              <a:spcAft>
                <a:spcPts val="600"/>
              </a:spcAft>
              <a:buSzPct val="100000"/>
              <a:buChar char="•"/>
            </a:pPr>
            <a:r>
              <a:rPr lang="en-US" sz="1400" dirty="0">
                <a:solidFill>
                  <a:schemeClr val="bg1"/>
                </a:solidFill>
              </a:rPr>
              <a:t>That triage advice matches developers</a:t>
            </a:r>
            <a:endParaRPr lang="en-US" sz="1400" dirty="0"/>
          </a:p>
        </p:txBody>
      </p:sp>
      <p:sp>
        <p:nvSpPr>
          <p:cNvPr id="8" name="Text 5"/>
          <p:cNvSpPr txBox="1"/>
          <p:nvPr/>
        </p:nvSpPr>
        <p:spPr>
          <a:xfrm>
            <a:off x="457200" y="3337560"/>
            <a:ext cx="8229600" cy="320040"/>
          </a:xfrm>
          <a:prstGeom prst="rect">
            <a:avLst/>
          </a:prstGeom>
          <a:noFill/>
          <a:ln/>
        </p:spPr>
        <p:txBody>
          <a:bodyPr wrap="square" lIns="0" tIns="0" rIns="0" bIns="0" rtlCol="0" anchor="ctr"/>
          <a:lstStyle/>
          <a:p>
            <a:pPr indent="0" marL="0">
              <a:buNone/>
            </a:pPr>
            <a:r>
              <a:rPr lang="en-US" sz="1800" b="1" dirty="0">
                <a:solidFill>
                  <a:schemeClr val="bg1"/>
                </a:solidFill>
              </a:rPr>
              <a:t>Guidance we would like</a:t>
            </a:r>
            <a:endParaRPr lang="en-US" sz="1800" dirty="0"/>
          </a:p>
        </p:txBody>
      </p:sp>
      <p:sp>
        <p:nvSpPr>
          <p:cNvPr id="9" name="Text 6"/>
          <p:cNvSpPr txBox="1"/>
          <p:nvPr/>
        </p:nvSpPr>
        <p:spPr>
          <a:xfrm>
            <a:off x="457200" y="3703320"/>
            <a:ext cx="8229600" cy="1097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bg1"/>
                </a:solidFill>
              </a:rPr>
              <a:t>Frame the write-up as an evaluation and negative-results study?</a:t>
            </a:r>
            <a:endParaRPr lang="en-US" sz="1400" dirty="0"/>
          </a:p>
          <a:p>
            <a:pPr marL="342900" indent="-342900">
              <a:spcAft>
                <a:spcPts val="600"/>
              </a:spcAft>
              <a:buSzPct val="100000"/>
              <a:buChar char="•"/>
            </a:pPr>
            <a:r>
              <a:rPr lang="en-US" sz="1400" dirty="0">
                <a:solidFill>
                  <a:schemeClr val="bg1"/>
                </a:solidFill>
              </a:rPr>
              <a:t>Add more repositories now, or accept nine and state the limit?</a:t>
            </a:r>
            <a:endParaRPr lang="en-US" sz="1400" dirty="0"/>
          </a:p>
          <a:p>
            <a:pPr marL="342900" indent="-342900">
              <a:spcAft>
                <a:spcPts val="600"/>
              </a:spcAft>
              <a:buSzPct val="100000"/>
              <a:buChar char="•"/>
            </a:pPr>
            <a:r>
              <a:rPr lang="en-US" sz="1400" dirty="0">
                <a:solidFill>
                  <a:schemeClr val="bg1"/>
                </a:solidFill>
              </a:rPr>
              <a:t>Which venue or report format should the final submission target?</a:t>
            </a:r>
            <a:endParaRPr lang="en-US" sz="1400" dirty="0"/>
          </a:p>
        </p:txBody>
      </p:sp>
    </p:spTree>
  </p:cSld>
  <p:clrMapOvr>
    <a:masterClrMapping/>
  </p:clrMapOvr>
</p:sld>
</file>

<file path=ppt/theme/theme1.xml><?xml version="1.0" encoding="utf-8"?>
<a:theme xmlns:a="http://schemas.openxmlformats.org/drawingml/2006/main" name="Guide Review">
  <a:themeElements>
    <a:clrScheme name="Guide Review">
      <a:dk1>
        <a:srgbClr val="1B2432"/>
      </a:dk1>
      <a:lt1>
        <a:srgbClr val="FFFFFF"/>
      </a:lt1>
      <a:dk2>
        <a:srgbClr val="0F3D3E"/>
      </a:dk2>
      <a:lt2>
        <a:srgbClr val="EEF3F2"/>
      </a:lt2>
      <a:accent1>
        <a:srgbClr val="0F766E"/>
      </a:accent1>
      <a:accent2>
        <a:srgbClr val="D97706"/>
      </a:accent2>
      <a:accent3>
        <a:srgbClr val="B42318"/>
      </a:accent3>
      <a:accent4>
        <a:srgbClr val="15803D"/>
      </a:accent4>
      <a:accent5>
        <a:srgbClr val="64748B"/>
      </a:accent5>
      <a:accent6>
        <a:srgbClr val="334155"/>
      </a:accent6>
      <a:hlink>
        <a:srgbClr val="0F766E"/>
      </a:hlink>
      <a:folHlink>
        <a:srgbClr val="64748B"/>
      </a:folHlink>
    </a:clrScheme>
    <a:fontScheme name="Guide Review">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VIT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GitHub Actions Performance Optimizer - guide review</dc:title>
  <dc:subject>PptxGenJS Presentation</dc:subject>
  <dc:creator>Akshat Singh, Aditya Choubey</dc:creator>
  <cp:lastModifiedBy>Akshat Singh, Aditya Choubey</cp:lastModifiedBy>
  <cp:revision>1</cp:revision>
  <dcterms:created xsi:type="dcterms:W3CDTF">2026-10-14T17:43:14Z</dcterms:created>
  <dcterms:modified xsi:type="dcterms:W3CDTF">2026-10-14T17:43:14Z</dcterms:modified>
</cp:coreProperties>
</file>